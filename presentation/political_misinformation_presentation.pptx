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3" r:id="rId4"/>
  </p:sldMasterIdLst>
  <p:notesMasterIdLst>
    <p:notesMasterId r:id="rId19"/>
  </p:notesMasterIdLst>
  <p:handoutMasterIdLst>
    <p:handoutMasterId r:id="rId20"/>
  </p:handoutMasterIdLst>
  <p:sldIdLst>
    <p:sldId id="276" r:id="rId5"/>
    <p:sldId id="299" r:id="rId6"/>
    <p:sldId id="281" r:id="rId7"/>
    <p:sldId id="300" r:id="rId8"/>
    <p:sldId id="302" r:id="rId9"/>
    <p:sldId id="303" r:id="rId10"/>
    <p:sldId id="304" r:id="rId11"/>
    <p:sldId id="305" r:id="rId12"/>
    <p:sldId id="306" r:id="rId13"/>
    <p:sldId id="307" r:id="rId14"/>
    <p:sldId id="308" r:id="rId15"/>
    <p:sldId id="309" r:id="rId16"/>
    <p:sldId id="310" r:id="rId17"/>
    <p:sldId id="29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2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D0F851-EC5A-4D38-B0AD-8093EC10F338}">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7858" autoAdjust="0"/>
  </p:normalViewPr>
  <p:slideViewPr>
    <p:cSldViewPr snapToGrid="0">
      <p:cViewPr varScale="1">
        <p:scale>
          <a:sx n="95" d="100"/>
          <a:sy n="95" d="100"/>
        </p:scale>
        <p:origin x="1134" y="306"/>
      </p:cViewPr>
      <p:guideLst>
        <p:guide orient="horz" pos="2928"/>
        <p:guide pos="3840"/>
      </p:guideLst>
    </p:cSldViewPr>
  </p:slideViewPr>
  <p:outlineViewPr>
    <p:cViewPr>
      <p:scale>
        <a:sx n="33" d="100"/>
        <a:sy n="33" d="100"/>
      </p:scale>
      <p:origin x="0" y="-5184"/>
    </p:cViewPr>
  </p:outlineViewPr>
  <p:notesTextViewPr>
    <p:cViewPr>
      <p:scale>
        <a:sx n="1" d="1"/>
        <a:sy n="1" d="1"/>
      </p:scale>
      <p:origin x="0" y="0"/>
    </p:cViewPr>
  </p:notesTextViewPr>
  <p:sorterViewPr>
    <p:cViewPr>
      <p:scale>
        <a:sx n="100" d="100"/>
        <a:sy n="100" d="100"/>
      </p:scale>
      <p:origin x="0" y="-5933"/>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uz Lawrence-Mayes" userId="59c23bb6466a7523" providerId="LiveId" clId="{E13361C8-D578-4BFD-A63B-FB70C75648E6}"/>
    <pc:docChg chg="custSel modSld">
      <pc:chgData name="Cruz Lawrence-Mayes" userId="59c23bb6466a7523" providerId="LiveId" clId="{E13361C8-D578-4BFD-A63B-FB70C75648E6}" dt="2025-12-07T22:42:29.929" v="4" actId="5793"/>
      <pc:docMkLst>
        <pc:docMk/>
      </pc:docMkLst>
      <pc:sldChg chg="modSp mod">
        <pc:chgData name="Cruz Lawrence-Mayes" userId="59c23bb6466a7523" providerId="LiveId" clId="{E13361C8-D578-4BFD-A63B-FB70C75648E6}" dt="2025-12-07T22:33:26.179" v="1" actId="1076"/>
        <pc:sldMkLst>
          <pc:docMk/>
          <pc:sldMk cId="3684793955" sldId="298"/>
        </pc:sldMkLst>
        <pc:spChg chg="mod">
          <ac:chgData name="Cruz Lawrence-Mayes" userId="59c23bb6466a7523" providerId="LiveId" clId="{E13361C8-D578-4BFD-A63B-FB70C75648E6}" dt="2025-12-07T22:33:20.766" v="0" actId="1076"/>
          <ac:spMkLst>
            <pc:docMk/>
            <pc:sldMk cId="3684793955" sldId="298"/>
            <ac:spMk id="2" creationId="{819152CD-4C4C-9E44-BE9B-72AB9835E6A9}"/>
          </ac:spMkLst>
        </pc:spChg>
        <pc:spChg chg="mod">
          <ac:chgData name="Cruz Lawrence-Mayes" userId="59c23bb6466a7523" providerId="LiveId" clId="{E13361C8-D578-4BFD-A63B-FB70C75648E6}" dt="2025-12-07T22:33:26.179" v="1" actId="1076"/>
          <ac:spMkLst>
            <pc:docMk/>
            <pc:sldMk cId="3684793955" sldId="298"/>
            <ac:spMk id="3" creationId="{F3F2E30C-1333-5529-886B-FD732D3DCBD3}"/>
          </ac:spMkLst>
        </pc:spChg>
      </pc:sldChg>
      <pc:sldChg chg="modNotesTx">
        <pc:chgData name="Cruz Lawrence-Mayes" userId="59c23bb6466a7523" providerId="LiveId" clId="{E13361C8-D578-4BFD-A63B-FB70C75648E6}" dt="2025-12-07T22:42:29.929" v="4" actId="5793"/>
        <pc:sldMkLst>
          <pc:docMk/>
          <pc:sldMk cId="1069850051" sldId="306"/>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9F76D1-DC41-42BB-BD39-65A51A5430F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5D12FEF-CCCC-4AF9-8FFA-BA371F679DF8}">
      <dgm:prSet/>
      <dgm:spPr/>
      <dgm:t>
        <a:bodyPr/>
        <a:lstStyle/>
        <a:p>
          <a:r>
            <a:rPr lang="en-US" b="1" i="1"/>
            <a:t>Do political statements exhibit consistent topical structure?</a:t>
          </a:r>
          <a:endParaRPr lang="en-US"/>
        </a:p>
      </dgm:t>
    </dgm:pt>
    <dgm:pt modelId="{E3AE3DD1-0A43-46C0-B0AE-474D7EA8F520}" type="parTrans" cxnId="{1486AD9B-7D28-4FD9-9C4D-BC6B5DE78DC4}">
      <dgm:prSet/>
      <dgm:spPr/>
      <dgm:t>
        <a:bodyPr/>
        <a:lstStyle/>
        <a:p>
          <a:endParaRPr lang="en-US"/>
        </a:p>
      </dgm:t>
    </dgm:pt>
    <dgm:pt modelId="{205D3827-3BC2-4D1E-B732-76DBC5B789B9}" type="sibTrans" cxnId="{1486AD9B-7D28-4FD9-9C4D-BC6B5DE78DC4}">
      <dgm:prSet/>
      <dgm:spPr/>
      <dgm:t>
        <a:bodyPr/>
        <a:lstStyle/>
        <a:p>
          <a:endParaRPr lang="en-US"/>
        </a:p>
      </dgm:t>
    </dgm:pt>
    <dgm:pt modelId="{78486339-D905-42EC-8B65-A45089962DD6}">
      <dgm:prSet/>
      <dgm:spPr/>
      <dgm:t>
        <a:bodyPr/>
        <a:lstStyle/>
        <a:p>
          <a:r>
            <a:rPr lang="en-US" b="1" i="1"/>
            <a:t>Are some topics more strongly associated with misinformation?</a:t>
          </a:r>
          <a:endParaRPr lang="en-US"/>
        </a:p>
      </dgm:t>
    </dgm:pt>
    <dgm:pt modelId="{02755CC9-574A-4328-8E4A-E1FE69FDA115}" type="parTrans" cxnId="{95A9DD56-67FC-4A6D-9D78-28F261007B73}">
      <dgm:prSet/>
      <dgm:spPr/>
      <dgm:t>
        <a:bodyPr/>
        <a:lstStyle/>
        <a:p>
          <a:endParaRPr lang="en-US"/>
        </a:p>
      </dgm:t>
    </dgm:pt>
    <dgm:pt modelId="{6809931E-D5F2-4901-A832-869A6B9D0BA0}" type="sibTrans" cxnId="{95A9DD56-67FC-4A6D-9D78-28F261007B73}">
      <dgm:prSet/>
      <dgm:spPr/>
      <dgm:t>
        <a:bodyPr/>
        <a:lstStyle/>
        <a:p>
          <a:endParaRPr lang="en-US"/>
        </a:p>
      </dgm:t>
    </dgm:pt>
    <dgm:pt modelId="{261FA350-4DC3-4DAA-A8BA-CA8E39DB75D7}">
      <dgm:prSet/>
      <dgm:spPr/>
      <dgm:t>
        <a:bodyPr/>
        <a:lstStyle/>
        <a:p>
          <a:r>
            <a:rPr lang="en-US" b="1" i="1"/>
            <a:t>Can linguistic features predict whether a statement is misinformation?</a:t>
          </a:r>
          <a:endParaRPr lang="en-US"/>
        </a:p>
      </dgm:t>
    </dgm:pt>
    <dgm:pt modelId="{2F11888C-70D1-4197-AE0E-6A1EE1A414D8}" type="parTrans" cxnId="{6405A83C-99EA-41B6-B048-EAAE2A44E4A4}">
      <dgm:prSet/>
      <dgm:spPr/>
      <dgm:t>
        <a:bodyPr/>
        <a:lstStyle/>
        <a:p>
          <a:endParaRPr lang="en-US"/>
        </a:p>
      </dgm:t>
    </dgm:pt>
    <dgm:pt modelId="{FEB942CA-1BDA-4454-A428-644B4D2E1A87}" type="sibTrans" cxnId="{6405A83C-99EA-41B6-B048-EAAE2A44E4A4}">
      <dgm:prSet/>
      <dgm:spPr/>
      <dgm:t>
        <a:bodyPr/>
        <a:lstStyle/>
        <a:p>
          <a:endParaRPr lang="en-US"/>
        </a:p>
      </dgm:t>
    </dgm:pt>
    <dgm:pt modelId="{4FAECBCB-406E-4016-9DB0-69F50BBAF9BB}">
      <dgm:prSet/>
      <dgm:spPr/>
      <dgm:t>
        <a:bodyPr/>
        <a:lstStyle/>
        <a:p>
          <a:r>
            <a:rPr lang="en-US" b="1" i="1"/>
            <a:t>What does the semantic structure of political language look like?</a:t>
          </a:r>
          <a:endParaRPr lang="en-US"/>
        </a:p>
      </dgm:t>
    </dgm:pt>
    <dgm:pt modelId="{225B0E26-199A-442E-88E3-4253F958C3D0}" type="parTrans" cxnId="{F168EB9D-545B-4501-BDAB-3D9AF5CAF0E3}">
      <dgm:prSet/>
      <dgm:spPr/>
      <dgm:t>
        <a:bodyPr/>
        <a:lstStyle/>
        <a:p>
          <a:endParaRPr lang="en-US"/>
        </a:p>
      </dgm:t>
    </dgm:pt>
    <dgm:pt modelId="{2817EF3F-1CCC-4515-8C8E-A4FA16165A1B}" type="sibTrans" cxnId="{F168EB9D-545B-4501-BDAB-3D9AF5CAF0E3}">
      <dgm:prSet/>
      <dgm:spPr/>
      <dgm:t>
        <a:bodyPr/>
        <a:lstStyle/>
        <a:p>
          <a:endParaRPr lang="en-US"/>
        </a:p>
      </dgm:t>
    </dgm:pt>
    <dgm:pt modelId="{D45EA13B-7A68-4DC3-98B1-D46D358A7C2E}" type="pres">
      <dgm:prSet presAssocID="{AF9F76D1-DC41-42BB-BD39-65A51A5430F5}" presName="root" presStyleCnt="0">
        <dgm:presLayoutVars>
          <dgm:dir/>
          <dgm:resizeHandles val="exact"/>
        </dgm:presLayoutVars>
      </dgm:prSet>
      <dgm:spPr/>
    </dgm:pt>
    <dgm:pt modelId="{582C5D78-3399-497B-933A-6234254FF4C2}" type="pres">
      <dgm:prSet presAssocID="{A5D12FEF-CCCC-4AF9-8FFA-BA371F679DF8}" presName="compNode" presStyleCnt="0"/>
      <dgm:spPr/>
    </dgm:pt>
    <dgm:pt modelId="{1899327F-74D7-48D2-8CD8-9DD1208AB901}" type="pres">
      <dgm:prSet presAssocID="{A5D12FEF-CCCC-4AF9-8FFA-BA371F679DF8}" presName="bgRect" presStyleLbl="bgShp" presStyleIdx="0" presStyleCnt="4"/>
      <dgm:spPr/>
    </dgm:pt>
    <dgm:pt modelId="{DE44E829-4A10-448F-A64C-A69790B34BFD}" type="pres">
      <dgm:prSet presAssocID="{A5D12FEF-CCCC-4AF9-8FFA-BA371F679DF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ecturer"/>
        </a:ext>
      </dgm:extLst>
    </dgm:pt>
    <dgm:pt modelId="{4690EB9E-C3EB-42FB-83A0-D8358E5752E3}" type="pres">
      <dgm:prSet presAssocID="{A5D12FEF-CCCC-4AF9-8FFA-BA371F679DF8}" presName="spaceRect" presStyleCnt="0"/>
      <dgm:spPr/>
    </dgm:pt>
    <dgm:pt modelId="{D78BC28A-878D-4876-937B-9A08941BE3E6}" type="pres">
      <dgm:prSet presAssocID="{A5D12FEF-CCCC-4AF9-8FFA-BA371F679DF8}" presName="parTx" presStyleLbl="revTx" presStyleIdx="0" presStyleCnt="4">
        <dgm:presLayoutVars>
          <dgm:chMax val="0"/>
          <dgm:chPref val="0"/>
        </dgm:presLayoutVars>
      </dgm:prSet>
      <dgm:spPr/>
    </dgm:pt>
    <dgm:pt modelId="{034680B0-9F0C-4E42-8AF9-F9FFEED524A0}" type="pres">
      <dgm:prSet presAssocID="{205D3827-3BC2-4D1E-B732-76DBC5B789B9}" presName="sibTrans" presStyleCnt="0"/>
      <dgm:spPr/>
    </dgm:pt>
    <dgm:pt modelId="{DB952064-2B53-4F8F-9B69-3F9A268C47D5}" type="pres">
      <dgm:prSet presAssocID="{78486339-D905-42EC-8B65-A45089962DD6}" presName="compNode" presStyleCnt="0"/>
      <dgm:spPr/>
    </dgm:pt>
    <dgm:pt modelId="{789ACD89-4D28-47F5-A759-BD708E12F6CC}" type="pres">
      <dgm:prSet presAssocID="{78486339-D905-42EC-8B65-A45089962DD6}" presName="bgRect" presStyleLbl="bgShp" presStyleIdx="1" presStyleCnt="4"/>
      <dgm:spPr/>
    </dgm:pt>
    <dgm:pt modelId="{6E4C0E7E-3957-42AE-A881-389BFB370AFE}" type="pres">
      <dgm:prSet presAssocID="{78486339-D905-42EC-8B65-A45089962DD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rritant"/>
        </a:ext>
      </dgm:extLst>
    </dgm:pt>
    <dgm:pt modelId="{9B1FB756-FD22-4F98-BE53-2A6E53C823F8}" type="pres">
      <dgm:prSet presAssocID="{78486339-D905-42EC-8B65-A45089962DD6}" presName="spaceRect" presStyleCnt="0"/>
      <dgm:spPr/>
    </dgm:pt>
    <dgm:pt modelId="{772692DD-47BA-47CB-9024-479467120255}" type="pres">
      <dgm:prSet presAssocID="{78486339-D905-42EC-8B65-A45089962DD6}" presName="parTx" presStyleLbl="revTx" presStyleIdx="1" presStyleCnt="4">
        <dgm:presLayoutVars>
          <dgm:chMax val="0"/>
          <dgm:chPref val="0"/>
        </dgm:presLayoutVars>
      </dgm:prSet>
      <dgm:spPr/>
    </dgm:pt>
    <dgm:pt modelId="{36068E1A-44FA-45A8-A7BF-8DDE7E0A9DE3}" type="pres">
      <dgm:prSet presAssocID="{6809931E-D5F2-4901-A832-869A6B9D0BA0}" presName="sibTrans" presStyleCnt="0"/>
      <dgm:spPr/>
    </dgm:pt>
    <dgm:pt modelId="{9F671F4D-08DB-4DD4-84BC-88C5D0BACC2F}" type="pres">
      <dgm:prSet presAssocID="{261FA350-4DC3-4DAA-A8BA-CA8E39DB75D7}" presName="compNode" presStyleCnt="0"/>
      <dgm:spPr/>
    </dgm:pt>
    <dgm:pt modelId="{105EDCBD-CBAA-42E8-8DDA-8378E13634F3}" type="pres">
      <dgm:prSet presAssocID="{261FA350-4DC3-4DAA-A8BA-CA8E39DB75D7}" presName="bgRect" presStyleLbl="bgShp" presStyleIdx="2" presStyleCnt="4"/>
      <dgm:spPr/>
    </dgm:pt>
    <dgm:pt modelId="{26188A79-AD39-4B60-890E-8A4FCBCCEBB3}" type="pres">
      <dgm:prSet presAssocID="{261FA350-4DC3-4DAA-A8BA-CA8E39DB75D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ongue"/>
        </a:ext>
      </dgm:extLst>
    </dgm:pt>
    <dgm:pt modelId="{4F025CE8-4155-4F44-8476-9A0AB8437D2C}" type="pres">
      <dgm:prSet presAssocID="{261FA350-4DC3-4DAA-A8BA-CA8E39DB75D7}" presName="spaceRect" presStyleCnt="0"/>
      <dgm:spPr/>
    </dgm:pt>
    <dgm:pt modelId="{C1189930-23CD-4353-A0F4-EE46702EC61C}" type="pres">
      <dgm:prSet presAssocID="{261FA350-4DC3-4DAA-A8BA-CA8E39DB75D7}" presName="parTx" presStyleLbl="revTx" presStyleIdx="2" presStyleCnt="4">
        <dgm:presLayoutVars>
          <dgm:chMax val="0"/>
          <dgm:chPref val="0"/>
        </dgm:presLayoutVars>
      </dgm:prSet>
      <dgm:spPr/>
    </dgm:pt>
    <dgm:pt modelId="{11F7AE53-50ED-4DCA-AFC3-BFB245C5790E}" type="pres">
      <dgm:prSet presAssocID="{FEB942CA-1BDA-4454-A428-644B4D2E1A87}" presName="sibTrans" presStyleCnt="0"/>
      <dgm:spPr/>
    </dgm:pt>
    <dgm:pt modelId="{C24AFCE0-1286-47C8-837D-1A5317C19C02}" type="pres">
      <dgm:prSet presAssocID="{4FAECBCB-406E-4016-9DB0-69F50BBAF9BB}" presName="compNode" presStyleCnt="0"/>
      <dgm:spPr/>
    </dgm:pt>
    <dgm:pt modelId="{2874C8E3-2B84-43B4-8C48-F2F26991338D}" type="pres">
      <dgm:prSet presAssocID="{4FAECBCB-406E-4016-9DB0-69F50BBAF9BB}" presName="bgRect" presStyleLbl="bgShp" presStyleIdx="3" presStyleCnt="4"/>
      <dgm:spPr/>
    </dgm:pt>
    <dgm:pt modelId="{8BE2B566-A27E-4B1C-A562-D21DE3E5B0B5}" type="pres">
      <dgm:prSet presAssocID="{4FAECBCB-406E-4016-9DB0-69F50BBAF9B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nk"/>
        </a:ext>
      </dgm:extLst>
    </dgm:pt>
    <dgm:pt modelId="{49BDD4D3-200D-4A90-8CE2-1E0A8E019BD1}" type="pres">
      <dgm:prSet presAssocID="{4FAECBCB-406E-4016-9DB0-69F50BBAF9BB}" presName="spaceRect" presStyleCnt="0"/>
      <dgm:spPr/>
    </dgm:pt>
    <dgm:pt modelId="{5ABF6787-34C3-46E8-BBCE-26CC6C6352B4}" type="pres">
      <dgm:prSet presAssocID="{4FAECBCB-406E-4016-9DB0-69F50BBAF9BB}" presName="parTx" presStyleLbl="revTx" presStyleIdx="3" presStyleCnt="4">
        <dgm:presLayoutVars>
          <dgm:chMax val="0"/>
          <dgm:chPref val="0"/>
        </dgm:presLayoutVars>
      </dgm:prSet>
      <dgm:spPr/>
    </dgm:pt>
  </dgm:ptLst>
  <dgm:cxnLst>
    <dgm:cxn modelId="{3198F131-EF1A-4CC4-8922-1370DD8F6182}" type="presOf" srcId="{261FA350-4DC3-4DAA-A8BA-CA8E39DB75D7}" destId="{C1189930-23CD-4353-A0F4-EE46702EC61C}" srcOrd="0" destOrd="0" presId="urn:microsoft.com/office/officeart/2018/2/layout/IconVerticalSolidList"/>
    <dgm:cxn modelId="{6405A83C-99EA-41B6-B048-EAAE2A44E4A4}" srcId="{AF9F76D1-DC41-42BB-BD39-65A51A5430F5}" destId="{261FA350-4DC3-4DAA-A8BA-CA8E39DB75D7}" srcOrd="2" destOrd="0" parTransId="{2F11888C-70D1-4197-AE0E-6A1EE1A414D8}" sibTransId="{FEB942CA-1BDA-4454-A428-644B4D2E1A87}"/>
    <dgm:cxn modelId="{95A9DD56-67FC-4A6D-9D78-28F261007B73}" srcId="{AF9F76D1-DC41-42BB-BD39-65A51A5430F5}" destId="{78486339-D905-42EC-8B65-A45089962DD6}" srcOrd="1" destOrd="0" parTransId="{02755CC9-574A-4328-8E4A-E1FE69FDA115}" sibTransId="{6809931E-D5F2-4901-A832-869A6B9D0BA0}"/>
    <dgm:cxn modelId="{1486AD9B-7D28-4FD9-9C4D-BC6B5DE78DC4}" srcId="{AF9F76D1-DC41-42BB-BD39-65A51A5430F5}" destId="{A5D12FEF-CCCC-4AF9-8FFA-BA371F679DF8}" srcOrd="0" destOrd="0" parTransId="{E3AE3DD1-0A43-46C0-B0AE-474D7EA8F520}" sibTransId="{205D3827-3BC2-4D1E-B732-76DBC5B789B9}"/>
    <dgm:cxn modelId="{F168EB9D-545B-4501-BDAB-3D9AF5CAF0E3}" srcId="{AF9F76D1-DC41-42BB-BD39-65A51A5430F5}" destId="{4FAECBCB-406E-4016-9DB0-69F50BBAF9BB}" srcOrd="3" destOrd="0" parTransId="{225B0E26-199A-442E-88E3-4253F958C3D0}" sibTransId="{2817EF3F-1CCC-4515-8C8E-A4FA16165A1B}"/>
    <dgm:cxn modelId="{1B4321B5-EFC1-4FED-8C47-E6FC83C58C79}" type="presOf" srcId="{A5D12FEF-CCCC-4AF9-8FFA-BA371F679DF8}" destId="{D78BC28A-878D-4876-937B-9A08941BE3E6}" srcOrd="0" destOrd="0" presId="urn:microsoft.com/office/officeart/2018/2/layout/IconVerticalSolidList"/>
    <dgm:cxn modelId="{4B1A71EA-B18F-4D01-9FB0-71CE1232F374}" type="presOf" srcId="{AF9F76D1-DC41-42BB-BD39-65A51A5430F5}" destId="{D45EA13B-7A68-4DC3-98B1-D46D358A7C2E}" srcOrd="0" destOrd="0" presId="urn:microsoft.com/office/officeart/2018/2/layout/IconVerticalSolidList"/>
    <dgm:cxn modelId="{4F53B7ED-F8D3-4918-A18E-E8AF1F967FCF}" type="presOf" srcId="{78486339-D905-42EC-8B65-A45089962DD6}" destId="{772692DD-47BA-47CB-9024-479467120255}" srcOrd="0" destOrd="0" presId="urn:microsoft.com/office/officeart/2018/2/layout/IconVerticalSolidList"/>
    <dgm:cxn modelId="{E000B6FB-3410-4184-A092-E16B9D4F79DD}" type="presOf" srcId="{4FAECBCB-406E-4016-9DB0-69F50BBAF9BB}" destId="{5ABF6787-34C3-46E8-BBCE-26CC6C6352B4}" srcOrd="0" destOrd="0" presId="urn:microsoft.com/office/officeart/2018/2/layout/IconVerticalSolidList"/>
    <dgm:cxn modelId="{F2DAC408-A8F7-43F9-8F9E-0048E4A323BD}" type="presParOf" srcId="{D45EA13B-7A68-4DC3-98B1-D46D358A7C2E}" destId="{582C5D78-3399-497B-933A-6234254FF4C2}" srcOrd="0" destOrd="0" presId="urn:microsoft.com/office/officeart/2018/2/layout/IconVerticalSolidList"/>
    <dgm:cxn modelId="{7BE39C0E-5CA8-4288-A76C-45856791A7C4}" type="presParOf" srcId="{582C5D78-3399-497B-933A-6234254FF4C2}" destId="{1899327F-74D7-48D2-8CD8-9DD1208AB901}" srcOrd="0" destOrd="0" presId="urn:microsoft.com/office/officeart/2018/2/layout/IconVerticalSolidList"/>
    <dgm:cxn modelId="{8CCC794B-4946-4BB9-99B8-4EE3F85FA39D}" type="presParOf" srcId="{582C5D78-3399-497B-933A-6234254FF4C2}" destId="{DE44E829-4A10-448F-A64C-A69790B34BFD}" srcOrd="1" destOrd="0" presId="urn:microsoft.com/office/officeart/2018/2/layout/IconVerticalSolidList"/>
    <dgm:cxn modelId="{6024C5B6-56D8-4F99-AD16-79E47F047AFC}" type="presParOf" srcId="{582C5D78-3399-497B-933A-6234254FF4C2}" destId="{4690EB9E-C3EB-42FB-83A0-D8358E5752E3}" srcOrd="2" destOrd="0" presId="urn:microsoft.com/office/officeart/2018/2/layout/IconVerticalSolidList"/>
    <dgm:cxn modelId="{D8E9D62E-F23A-44DD-9C28-921A534C3F9A}" type="presParOf" srcId="{582C5D78-3399-497B-933A-6234254FF4C2}" destId="{D78BC28A-878D-4876-937B-9A08941BE3E6}" srcOrd="3" destOrd="0" presId="urn:microsoft.com/office/officeart/2018/2/layout/IconVerticalSolidList"/>
    <dgm:cxn modelId="{B0780E06-DB83-441E-825B-2C90938E90CC}" type="presParOf" srcId="{D45EA13B-7A68-4DC3-98B1-D46D358A7C2E}" destId="{034680B0-9F0C-4E42-8AF9-F9FFEED524A0}" srcOrd="1" destOrd="0" presId="urn:microsoft.com/office/officeart/2018/2/layout/IconVerticalSolidList"/>
    <dgm:cxn modelId="{EB30FD18-4460-4516-BE25-76D2D342424A}" type="presParOf" srcId="{D45EA13B-7A68-4DC3-98B1-D46D358A7C2E}" destId="{DB952064-2B53-4F8F-9B69-3F9A268C47D5}" srcOrd="2" destOrd="0" presId="urn:microsoft.com/office/officeart/2018/2/layout/IconVerticalSolidList"/>
    <dgm:cxn modelId="{30EC68F1-44C7-4109-BD9E-B64045FB40C0}" type="presParOf" srcId="{DB952064-2B53-4F8F-9B69-3F9A268C47D5}" destId="{789ACD89-4D28-47F5-A759-BD708E12F6CC}" srcOrd="0" destOrd="0" presId="urn:microsoft.com/office/officeart/2018/2/layout/IconVerticalSolidList"/>
    <dgm:cxn modelId="{D8762D76-B992-4C75-8B41-0D6103CDAB57}" type="presParOf" srcId="{DB952064-2B53-4F8F-9B69-3F9A268C47D5}" destId="{6E4C0E7E-3957-42AE-A881-389BFB370AFE}" srcOrd="1" destOrd="0" presId="urn:microsoft.com/office/officeart/2018/2/layout/IconVerticalSolidList"/>
    <dgm:cxn modelId="{E5C012CF-5BF1-46F0-B54D-859B4460AA66}" type="presParOf" srcId="{DB952064-2B53-4F8F-9B69-3F9A268C47D5}" destId="{9B1FB756-FD22-4F98-BE53-2A6E53C823F8}" srcOrd="2" destOrd="0" presId="urn:microsoft.com/office/officeart/2018/2/layout/IconVerticalSolidList"/>
    <dgm:cxn modelId="{94A44D52-E54A-42BD-9213-2BD360788BF9}" type="presParOf" srcId="{DB952064-2B53-4F8F-9B69-3F9A268C47D5}" destId="{772692DD-47BA-47CB-9024-479467120255}" srcOrd="3" destOrd="0" presId="urn:microsoft.com/office/officeart/2018/2/layout/IconVerticalSolidList"/>
    <dgm:cxn modelId="{5B0B9623-B985-4660-9AFD-A47A43980C34}" type="presParOf" srcId="{D45EA13B-7A68-4DC3-98B1-D46D358A7C2E}" destId="{36068E1A-44FA-45A8-A7BF-8DDE7E0A9DE3}" srcOrd="3" destOrd="0" presId="urn:microsoft.com/office/officeart/2018/2/layout/IconVerticalSolidList"/>
    <dgm:cxn modelId="{0C9EB39A-1352-4866-A3E2-F06C1BE3D977}" type="presParOf" srcId="{D45EA13B-7A68-4DC3-98B1-D46D358A7C2E}" destId="{9F671F4D-08DB-4DD4-84BC-88C5D0BACC2F}" srcOrd="4" destOrd="0" presId="urn:microsoft.com/office/officeart/2018/2/layout/IconVerticalSolidList"/>
    <dgm:cxn modelId="{E6445CE5-FD33-41F1-9E9E-C8529DF5209A}" type="presParOf" srcId="{9F671F4D-08DB-4DD4-84BC-88C5D0BACC2F}" destId="{105EDCBD-CBAA-42E8-8DDA-8378E13634F3}" srcOrd="0" destOrd="0" presId="urn:microsoft.com/office/officeart/2018/2/layout/IconVerticalSolidList"/>
    <dgm:cxn modelId="{267910D4-E2FC-4DC5-9310-0E1DC05E5A26}" type="presParOf" srcId="{9F671F4D-08DB-4DD4-84BC-88C5D0BACC2F}" destId="{26188A79-AD39-4B60-890E-8A4FCBCCEBB3}" srcOrd="1" destOrd="0" presId="urn:microsoft.com/office/officeart/2018/2/layout/IconVerticalSolidList"/>
    <dgm:cxn modelId="{1D81F8B1-5315-4C4E-B405-3D269A569B69}" type="presParOf" srcId="{9F671F4D-08DB-4DD4-84BC-88C5D0BACC2F}" destId="{4F025CE8-4155-4F44-8476-9A0AB8437D2C}" srcOrd="2" destOrd="0" presId="urn:microsoft.com/office/officeart/2018/2/layout/IconVerticalSolidList"/>
    <dgm:cxn modelId="{E4D15066-A5DC-45C4-ABFE-0C37648F7D9D}" type="presParOf" srcId="{9F671F4D-08DB-4DD4-84BC-88C5D0BACC2F}" destId="{C1189930-23CD-4353-A0F4-EE46702EC61C}" srcOrd="3" destOrd="0" presId="urn:microsoft.com/office/officeart/2018/2/layout/IconVerticalSolidList"/>
    <dgm:cxn modelId="{6AE01601-ED54-4FEF-806E-041BE93A0365}" type="presParOf" srcId="{D45EA13B-7A68-4DC3-98B1-D46D358A7C2E}" destId="{11F7AE53-50ED-4DCA-AFC3-BFB245C5790E}" srcOrd="5" destOrd="0" presId="urn:microsoft.com/office/officeart/2018/2/layout/IconVerticalSolidList"/>
    <dgm:cxn modelId="{C7B3B4AD-D3E5-47B9-A90F-DB5833C632A9}" type="presParOf" srcId="{D45EA13B-7A68-4DC3-98B1-D46D358A7C2E}" destId="{C24AFCE0-1286-47C8-837D-1A5317C19C02}" srcOrd="6" destOrd="0" presId="urn:microsoft.com/office/officeart/2018/2/layout/IconVerticalSolidList"/>
    <dgm:cxn modelId="{65443D5F-91B0-4DB6-A700-DF1C6CE39366}" type="presParOf" srcId="{C24AFCE0-1286-47C8-837D-1A5317C19C02}" destId="{2874C8E3-2B84-43B4-8C48-F2F26991338D}" srcOrd="0" destOrd="0" presId="urn:microsoft.com/office/officeart/2018/2/layout/IconVerticalSolidList"/>
    <dgm:cxn modelId="{A05943C9-DAF7-4809-A7D2-3A60DD8BDAF8}" type="presParOf" srcId="{C24AFCE0-1286-47C8-837D-1A5317C19C02}" destId="{8BE2B566-A27E-4B1C-A562-D21DE3E5B0B5}" srcOrd="1" destOrd="0" presId="urn:microsoft.com/office/officeart/2018/2/layout/IconVerticalSolidList"/>
    <dgm:cxn modelId="{D638274D-4DF7-480A-B138-28F8315073EA}" type="presParOf" srcId="{C24AFCE0-1286-47C8-837D-1A5317C19C02}" destId="{49BDD4D3-200D-4A90-8CE2-1E0A8E019BD1}" srcOrd="2" destOrd="0" presId="urn:microsoft.com/office/officeart/2018/2/layout/IconVerticalSolidList"/>
    <dgm:cxn modelId="{D7C21619-A806-4499-A514-5294B81B118A}" type="presParOf" srcId="{C24AFCE0-1286-47C8-837D-1A5317C19C02}" destId="{5ABF6787-34C3-46E8-BBCE-26CC6C6352B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3040BE-E970-4C7C-A84F-ADB938C676CC}"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BCE336E4-B746-4E97-AC6E-BE3A3D022B79}">
      <dgm:prSet/>
      <dgm:spPr/>
      <dgm:t>
        <a:bodyPr/>
        <a:lstStyle/>
        <a:p>
          <a:r>
            <a:rPr lang="en-US"/>
            <a:t>Removed empty/missing statements</a:t>
          </a:r>
        </a:p>
      </dgm:t>
    </dgm:pt>
    <dgm:pt modelId="{DDD72883-EC16-4743-9E9E-E7D4EF166205}" type="parTrans" cxnId="{3B336865-EBDB-40CF-88E5-F65CE28801AF}">
      <dgm:prSet/>
      <dgm:spPr/>
      <dgm:t>
        <a:bodyPr/>
        <a:lstStyle/>
        <a:p>
          <a:endParaRPr lang="en-US"/>
        </a:p>
      </dgm:t>
    </dgm:pt>
    <dgm:pt modelId="{0093BD34-1F21-4A24-A20E-2CBFA0DD35CE}" type="sibTrans" cxnId="{3B336865-EBDB-40CF-88E5-F65CE28801AF}">
      <dgm:prSet/>
      <dgm:spPr/>
      <dgm:t>
        <a:bodyPr/>
        <a:lstStyle/>
        <a:p>
          <a:endParaRPr lang="en-US"/>
        </a:p>
      </dgm:t>
    </dgm:pt>
    <dgm:pt modelId="{BC0075CF-D65F-4956-8AC6-7817043D3B90}">
      <dgm:prSet/>
      <dgm:spPr/>
      <dgm:t>
        <a:bodyPr/>
        <a:lstStyle/>
        <a:p>
          <a:r>
            <a:rPr lang="en-US"/>
            <a:t>Standardized truth labels</a:t>
          </a:r>
        </a:p>
      </dgm:t>
    </dgm:pt>
    <dgm:pt modelId="{D87485B7-4F53-4BCD-921F-6898D27AAAD1}" type="parTrans" cxnId="{EC6F7313-DA60-4A5E-913C-DD8E195FDFD7}">
      <dgm:prSet/>
      <dgm:spPr/>
      <dgm:t>
        <a:bodyPr/>
        <a:lstStyle/>
        <a:p>
          <a:endParaRPr lang="en-US"/>
        </a:p>
      </dgm:t>
    </dgm:pt>
    <dgm:pt modelId="{F563AA20-70D9-4FE9-8C97-38EA37B2458B}" type="sibTrans" cxnId="{EC6F7313-DA60-4A5E-913C-DD8E195FDFD7}">
      <dgm:prSet/>
      <dgm:spPr/>
      <dgm:t>
        <a:bodyPr/>
        <a:lstStyle/>
        <a:p>
          <a:endParaRPr lang="en-US"/>
        </a:p>
      </dgm:t>
    </dgm:pt>
    <dgm:pt modelId="{E3DF4F63-E902-4BB1-AB3E-0B8A6C545251}">
      <dgm:prSet/>
      <dgm:spPr/>
      <dgm:t>
        <a:bodyPr/>
        <a:lstStyle/>
        <a:p>
          <a:r>
            <a:rPr lang="en-US" dirty="0"/>
            <a:t>Tokenized and lowercased text</a:t>
          </a:r>
        </a:p>
      </dgm:t>
    </dgm:pt>
    <dgm:pt modelId="{ADCE44E3-81FC-47D5-974F-F2F467C17108}" type="parTrans" cxnId="{A24A95D6-879A-4615-9EC5-42E0E09028D1}">
      <dgm:prSet/>
      <dgm:spPr/>
      <dgm:t>
        <a:bodyPr/>
        <a:lstStyle/>
        <a:p>
          <a:endParaRPr lang="en-US"/>
        </a:p>
      </dgm:t>
    </dgm:pt>
    <dgm:pt modelId="{46E88A58-AE99-4EEE-9820-7DD966F8F7B5}" type="sibTrans" cxnId="{A24A95D6-879A-4615-9EC5-42E0E09028D1}">
      <dgm:prSet/>
      <dgm:spPr/>
      <dgm:t>
        <a:bodyPr/>
        <a:lstStyle/>
        <a:p>
          <a:endParaRPr lang="en-US"/>
        </a:p>
      </dgm:t>
    </dgm:pt>
    <dgm:pt modelId="{5425AEF7-043E-4B14-94DC-03865773A229}">
      <dgm:prSet/>
      <dgm:spPr/>
      <dgm:t>
        <a:bodyPr/>
        <a:lstStyle/>
        <a:p>
          <a:r>
            <a:rPr lang="en-US"/>
            <a:t>Removed punctuation, numbers, and stopwords</a:t>
          </a:r>
        </a:p>
      </dgm:t>
    </dgm:pt>
    <dgm:pt modelId="{220AA3CA-4EAC-45D6-8C09-CEC518D166B4}" type="parTrans" cxnId="{70DE3D40-A34D-49ED-A1A6-17AE0A5D6C46}">
      <dgm:prSet/>
      <dgm:spPr/>
      <dgm:t>
        <a:bodyPr/>
        <a:lstStyle/>
        <a:p>
          <a:endParaRPr lang="en-US"/>
        </a:p>
      </dgm:t>
    </dgm:pt>
    <dgm:pt modelId="{12361EFC-86BD-43E5-985C-66AB5113A749}" type="sibTrans" cxnId="{70DE3D40-A34D-49ED-A1A6-17AE0A5D6C46}">
      <dgm:prSet/>
      <dgm:spPr/>
      <dgm:t>
        <a:bodyPr/>
        <a:lstStyle/>
        <a:p>
          <a:endParaRPr lang="en-US"/>
        </a:p>
      </dgm:t>
    </dgm:pt>
    <dgm:pt modelId="{0E01B697-237B-4450-93E9-A07CCC1F8013}">
      <dgm:prSet/>
      <dgm:spPr/>
      <dgm:t>
        <a:bodyPr/>
        <a:lstStyle/>
        <a:p>
          <a:r>
            <a:rPr lang="en-US"/>
            <a:t>Built document-feature matrix (DFM)</a:t>
          </a:r>
        </a:p>
      </dgm:t>
    </dgm:pt>
    <dgm:pt modelId="{E680470E-C84E-416D-A577-81E04AEB1936}" type="parTrans" cxnId="{0A2C9689-3477-4FAA-851F-98DA74AE36DA}">
      <dgm:prSet/>
      <dgm:spPr/>
      <dgm:t>
        <a:bodyPr/>
        <a:lstStyle/>
        <a:p>
          <a:endParaRPr lang="en-US"/>
        </a:p>
      </dgm:t>
    </dgm:pt>
    <dgm:pt modelId="{3555743C-CC91-4F42-A225-645D2725231B}" type="sibTrans" cxnId="{0A2C9689-3477-4FAA-851F-98DA74AE36DA}">
      <dgm:prSet/>
      <dgm:spPr/>
      <dgm:t>
        <a:bodyPr/>
        <a:lstStyle/>
        <a:p>
          <a:endParaRPr lang="en-US"/>
        </a:p>
      </dgm:t>
    </dgm:pt>
    <dgm:pt modelId="{7E746514-BC99-4FAC-8E80-6140737A4207}">
      <dgm:prSet/>
      <dgm:spPr/>
      <dgm:t>
        <a:bodyPr/>
        <a:lstStyle/>
        <a:p>
          <a:r>
            <a:rPr lang="en-US"/>
            <a:t>Trimmed rare terms to reduce noise</a:t>
          </a:r>
        </a:p>
      </dgm:t>
    </dgm:pt>
    <dgm:pt modelId="{18D42328-262B-4DA7-98B7-EE3AD6597F91}" type="parTrans" cxnId="{CE224A73-2E52-490C-AD71-77A245AA0935}">
      <dgm:prSet/>
      <dgm:spPr/>
      <dgm:t>
        <a:bodyPr/>
        <a:lstStyle/>
        <a:p>
          <a:endParaRPr lang="en-US"/>
        </a:p>
      </dgm:t>
    </dgm:pt>
    <dgm:pt modelId="{8E9867E7-0D65-4310-B1BC-6B3758F29554}" type="sibTrans" cxnId="{CE224A73-2E52-490C-AD71-77A245AA0935}">
      <dgm:prSet/>
      <dgm:spPr/>
      <dgm:t>
        <a:bodyPr/>
        <a:lstStyle/>
        <a:p>
          <a:endParaRPr lang="en-US"/>
        </a:p>
      </dgm:t>
    </dgm:pt>
    <dgm:pt modelId="{BB2BA9EB-AEDD-45BD-9663-D22D11A1C55D}">
      <dgm:prSet/>
      <dgm:spPr/>
      <dgm:t>
        <a:bodyPr/>
        <a:lstStyle/>
        <a:p>
          <a:r>
            <a:rPr lang="en-US"/>
            <a:t>Prepared data for LDA, STM, classification, and embeddings</a:t>
          </a:r>
        </a:p>
      </dgm:t>
    </dgm:pt>
    <dgm:pt modelId="{E4031C87-DEDA-49BD-8E97-18B338F1D953}" type="parTrans" cxnId="{34B0B7ED-AFC4-4195-A2F5-0E59F5484E6A}">
      <dgm:prSet/>
      <dgm:spPr/>
      <dgm:t>
        <a:bodyPr/>
        <a:lstStyle/>
        <a:p>
          <a:endParaRPr lang="en-US"/>
        </a:p>
      </dgm:t>
    </dgm:pt>
    <dgm:pt modelId="{8D0E1A8F-251C-4A44-926E-7BE2E1BF9E38}" type="sibTrans" cxnId="{34B0B7ED-AFC4-4195-A2F5-0E59F5484E6A}">
      <dgm:prSet/>
      <dgm:spPr/>
      <dgm:t>
        <a:bodyPr/>
        <a:lstStyle/>
        <a:p>
          <a:endParaRPr lang="en-US"/>
        </a:p>
      </dgm:t>
    </dgm:pt>
    <dgm:pt modelId="{62CBAEE2-60ED-4A89-93E5-8FCF147E0689}" type="pres">
      <dgm:prSet presAssocID="{693040BE-E970-4C7C-A84F-ADB938C676CC}" presName="vert0" presStyleCnt="0">
        <dgm:presLayoutVars>
          <dgm:dir/>
          <dgm:animOne val="branch"/>
          <dgm:animLvl val="lvl"/>
        </dgm:presLayoutVars>
      </dgm:prSet>
      <dgm:spPr/>
    </dgm:pt>
    <dgm:pt modelId="{16AF2054-7FF3-46AE-BEEE-E53DE3E6474D}" type="pres">
      <dgm:prSet presAssocID="{BCE336E4-B746-4E97-AC6E-BE3A3D022B79}" presName="thickLine" presStyleLbl="alignNode1" presStyleIdx="0" presStyleCnt="7"/>
      <dgm:spPr/>
    </dgm:pt>
    <dgm:pt modelId="{7FDDB5B5-F6FE-4E7D-B26A-682AF12EC9FD}" type="pres">
      <dgm:prSet presAssocID="{BCE336E4-B746-4E97-AC6E-BE3A3D022B79}" presName="horz1" presStyleCnt="0"/>
      <dgm:spPr/>
    </dgm:pt>
    <dgm:pt modelId="{2DB94864-6FD1-460F-BBB3-D5D708957104}" type="pres">
      <dgm:prSet presAssocID="{BCE336E4-B746-4E97-AC6E-BE3A3D022B79}" presName="tx1" presStyleLbl="revTx" presStyleIdx="0" presStyleCnt="7"/>
      <dgm:spPr/>
    </dgm:pt>
    <dgm:pt modelId="{FE07F7B9-1BF1-41B0-B986-17E6925BF5B7}" type="pres">
      <dgm:prSet presAssocID="{BCE336E4-B746-4E97-AC6E-BE3A3D022B79}" presName="vert1" presStyleCnt="0"/>
      <dgm:spPr/>
    </dgm:pt>
    <dgm:pt modelId="{230FD6BF-0E01-4AB3-AA2A-E9FFEFADEDE4}" type="pres">
      <dgm:prSet presAssocID="{BC0075CF-D65F-4956-8AC6-7817043D3B90}" presName="thickLine" presStyleLbl="alignNode1" presStyleIdx="1" presStyleCnt="7"/>
      <dgm:spPr/>
    </dgm:pt>
    <dgm:pt modelId="{B645EB7E-9E69-47D4-BC42-8C0F695D3725}" type="pres">
      <dgm:prSet presAssocID="{BC0075CF-D65F-4956-8AC6-7817043D3B90}" presName="horz1" presStyleCnt="0"/>
      <dgm:spPr/>
    </dgm:pt>
    <dgm:pt modelId="{E113460E-98C0-4CB4-83AA-7AB6D2F8451B}" type="pres">
      <dgm:prSet presAssocID="{BC0075CF-D65F-4956-8AC6-7817043D3B90}" presName="tx1" presStyleLbl="revTx" presStyleIdx="1" presStyleCnt="7"/>
      <dgm:spPr/>
    </dgm:pt>
    <dgm:pt modelId="{50F85BEF-1A15-4F23-B09D-D85665329E35}" type="pres">
      <dgm:prSet presAssocID="{BC0075CF-D65F-4956-8AC6-7817043D3B90}" presName="vert1" presStyleCnt="0"/>
      <dgm:spPr/>
    </dgm:pt>
    <dgm:pt modelId="{52B66F15-E047-46D6-8FF7-9A340FD7CED3}" type="pres">
      <dgm:prSet presAssocID="{E3DF4F63-E902-4BB1-AB3E-0B8A6C545251}" presName="thickLine" presStyleLbl="alignNode1" presStyleIdx="2" presStyleCnt="7"/>
      <dgm:spPr/>
    </dgm:pt>
    <dgm:pt modelId="{7192B34A-D557-4EB1-91E4-AF1B323119EA}" type="pres">
      <dgm:prSet presAssocID="{E3DF4F63-E902-4BB1-AB3E-0B8A6C545251}" presName="horz1" presStyleCnt="0"/>
      <dgm:spPr/>
    </dgm:pt>
    <dgm:pt modelId="{4DEF4B06-FDA0-41C0-826C-BE1894E5C395}" type="pres">
      <dgm:prSet presAssocID="{E3DF4F63-E902-4BB1-AB3E-0B8A6C545251}" presName="tx1" presStyleLbl="revTx" presStyleIdx="2" presStyleCnt="7"/>
      <dgm:spPr/>
    </dgm:pt>
    <dgm:pt modelId="{F6829BBF-F42A-43EA-8DDF-0CCF5AA995D0}" type="pres">
      <dgm:prSet presAssocID="{E3DF4F63-E902-4BB1-AB3E-0B8A6C545251}" presName="vert1" presStyleCnt="0"/>
      <dgm:spPr/>
    </dgm:pt>
    <dgm:pt modelId="{9740FA17-A484-40CC-88D5-7AFCC0BB225C}" type="pres">
      <dgm:prSet presAssocID="{5425AEF7-043E-4B14-94DC-03865773A229}" presName="thickLine" presStyleLbl="alignNode1" presStyleIdx="3" presStyleCnt="7"/>
      <dgm:spPr/>
    </dgm:pt>
    <dgm:pt modelId="{75EEA78C-FFFB-44B5-9D37-470A4A9CF8C5}" type="pres">
      <dgm:prSet presAssocID="{5425AEF7-043E-4B14-94DC-03865773A229}" presName="horz1" presStyleCnt="0"/>
      <dgm:spPr/>
    </dgm:pt>
    <dgm:pt modelId="{EF02CC3F-0D50-4EF1-A817-CA747696D597}" type="pres">
      <dgm:prSet presAssocID="{5425AEF7-043E-4B14-94DC-03865773A229}" presName="tx1" presStyleLbl="revTx" presStyleIdx="3" presStyleCnt="7"/>
      <dgm:spPr/>
    </dgm:pt>
    <dgm:pt modelId="{83F190D5-38CF-42A6-A19E-EEA9771D482C}" type="pres">
      <dgm:prSet presAssocID="{5425AEF7-043E-4B14-94DC-03865773A229}" presName="vert1" presStyleCnt="0"/>
      <dgm:spPr/>
    </dgm:pt>
    <dgm:pt modelId="{E47DF425-3423-4421-AF64-88913693C6DD}" type="pres">
      <dgm:prSet presAssocID="{0E01B697-237B-4450-93E9-A07CCC1F8013}" presName="thickLine" presStyleLbl="alignNode1" presStyleIdx="4" presStyleCnt="7"/>
      <dgm:spPr/>
    </dgm:pt>
    <dgm:pt modelId="{4D1C1696-186F-465B-8058-1BD7AFF1ACC0}" type="pres">
      <dgm:prSet presAssocID="{0E01B697-237B-4450-93E9-A07CCC1F8013}" presName="horz1" presStyleCnt="0"/>
      <dgm:spPr/>
    </dgm:pt>
    <dgm:pt modelId="{264B6A70-2459-4E42-AFB0-B9C1FF3CD304}" type="pres">
      <dgm:prSet presAssocID="{0E01B697-237B-4450-93E9-A07CCC1F8013}" presName="tx1" presStyleLbl="revTx" presStyleIdx="4" presStyleCnt="7"/>
      <dgm:spPr/>
    </dgm:pt>
    <dgm:pt modelId="{5C687643-1ED1-4ECF-B1BE-EC460F036D54}" type="pres">
      <dgm:prSet presAssocID="{0E01B697-237B-4450-93E9-A07CCC1F8013}" presName="vert1" presStyleCnt="0"/>
      <dgm:spPr/>
    </dgm:pt>
    <dgm:pt modelId="{D51D94E7-32A3-44DF-9723-E8E5F563F2F6}" type="pres">
      <dgm:prSet presAssocID="{7E746514-BC99-4FAC-8E80-6140737A4207}" presName="thickLine" presStyleLbl="alignNode1" presStyleIdx="5" presStyleCnt="7"/>
      <dgm:spPr/>
    </dgm:pt>
    <dgm:pt modelId="{F9F867CE-765C-44BF-BAC6-A9FDD5D57F7B}" type="pres">
      <dgm:prSet presAssocID="{7E746514-BC99-4FAC-8E80-6140737A4207}" presName="horz1" presStyleCnt="0"/>
      <dgm:spPr/>
    </dgm:pt>
    <dgm:pt modelId="{BBB06D73-E031-477C-93E9-1EF4903C0E75}" type="pres">
      <dgm:prSet presAssocID="{7E746514-BC99-4FAC-8E80-6140737A4207}" presName="tx1" presStyleLbl="revTx" presStyleIdx="5" presStyleCnt="7"/>
      <dgm:spPr/>
    </dgm:pt>
    <dgm:pt modelId="{6777B50B-D247-4C68-B8F3-9363C1F1BEE1}" type="pres">
      <dgm:prSet presAssocID="{7E746514-BC99-4FAC-8E80-6140737A4207}" presName="vert1" presStyleCnt="0"/>
      <dgm:spPr/>
    </dgm:pt>
    <dgm:pt modelId="{19AF74E6-F6C5-4945-9229-E1AFE689F209}" type="pres">
      <dgm:prSet presAssocID="{BB2BA9EB-AEDD-45BD-9663-D22D11A1C55D}" presName="thickLine" presStyleLbl="alignNode1" presStyleIdx="6" presStyleCnt="7"/>
      <dgm:spPr/>
    </dgm:pt>
    <dgm:pt modelId="{61695166-25A3-435B-A91D-4DA8D902A676}" type="pres">
      <dgm:prSet presAssocID="{BB2BA9EB-AEDD-45BD-9663-D22D11A1C55D}" presName="horz1" presStyleCnt="0"/>
      <dgm:spPr/>
    </dgm:pt>
    <dgm:pt modelId="{A84A2FAF-9EEE-4F79-A9CC-A7DD8F7188D5}" type="pres">
      <dgm:prSet presAssocID="{BB2BA9EB-AEDD-45BD-9663-D22D11A1C55D}" presName="tx1" presStyleLbl="revTx" presStyleIdx="6" presStyleCnt="7"/>
      <dgm:spPr/>
    </dgm:pt>
    <dgm:pt modelId="{F8767037-039D-4B10-B196-5D5E87A9E4A3}" type="pres">
      <dgm:prSet presAssocID="{BB2BA9EB-AEDD-45BD-9663-D22D11A1C55D}" presName="vert1" presStyleCnt="0"/>
      <dgm:spPr/>
    </dgm:pt>
  </dgm:ptLst>
  <dgm:cxnLst>
    <dgm:cxn modelId="{EC6F7313-DA60-4A5E-913C-DD8E195FDFD7}" srcId="{693040BE-E970-4C7C-A84F-ADB938C676CC}" destId="{BC0075CF-D65F-4956-8AC6-7817043D3B90}" srcOrd="1" destOrd="0" parTransId="{D87485B7-4F53-4BCD-921F-6898D27AAAD1}" sibTransId="{F563AA20-70D9-4FE9-8C97-38EA37B2458B}"/>
    <dgm:cxn modelId="{70DE3D40-A34D-49ED-A1A6-17AE0A5D6C46}" srcId="{693040BE-E970-4C7C-A84F-ADB938C676CC}" destId="{5425AEF7-043E-4B14-94DC-03865773A229}" srcOrd="3" destOrd="0" parTransId="{220AA3CA-4EAC-45D6-8C09-CEC518D166B4}" sibTransId="{12361EFC-86BD-43E5-985C-66AB5113A749}"/>
    <dgm:cxn modelId="{3B336865-EBDB-40CF-88E5-F65CE28801AF}" srcId="{693040BE-E970-4C7C-A84F-ADB938C676CC}" destId="{BCE336E4-B746-4E97-AC6E-BE3A3D022B79}" srcOrd="0" destOrd="0" parTransId="{DDD72883-EC16-4743-9E9E-E7D4EF166205}" sibTransId="{0093BD34-1F21-4A24-A20E-2CBFA0DD35CE}"/>
    <dgm:cxn modelId="{58B2CB47-2D23-4AEA-847A-DD1E32AA4573}" type="presOf" srcId="{693040BE-E970-4C7C-A84F-ADB938C676CC}" destId="{62CBAEE2-60ED-4A89-93E5-8FCF147E0689}" srcOrd="0" destOrd="0" presId="urn:microsoft.com/office/officeart/2008/layout/LinedList"/>
    <dgm:cxn modelId="{CE224A73-2E52-490C-AD71-77A245AA0935}" srcId="{693040BE-E970-4C7C-A84F-ADB938C676CC}" destId="{7E746514-BC99-4FAC-8E80-6140737A4207}" srcOrd="5" destOrd="0" parTransId="{18D42328-262B-4DA7-98B7-EE3AD6597F91}" sibTransId="{8E9867E7-0D65-4310-B1BC-6B3758F29554}"/>
    <dgm:cxn modelId="{4D3F147B-D99A-4699-A0BE-8C1686068DC8}" type="presOf" srcId="{BB2BA9EB-AEDD-45BD-9663-D22D11A1C55D}" destId="{A84A2FAF-9EEE-4F79-A9CC-A7DD8F7188D5}" srcOrd="0" destOrd="0" presId="urn:microsoft.com/office/officeart/2008/layout/LinedList"/>
    <dgm:cxn modelId="{82ED487F-0E63-45A5-937E-453FD2F99351}" type="presOf" srcId="{7E746514-BC99-4FAC-8E80-6140737A4207}" destId="{BBB06D73-E031-477C-93E9-1EF4903C0E75}" srcOrd="0" destOrd="0" presId="urn:microsoft.com/office/officeart/2008/layout/LinedList"/>
    <dgm:cxn modelId="{0A2C9689-3477-4FAA-851F-98DA74AE36DA}" srcId="{693040BE-E970-4C7C-A84F-ADB938C676CC}" destId="{0E01B697-237B-4450-93E9-A07CCC1F8013}" srcOrd="4" destOrd="0" parTransId="{E680470E-C84E-416D-A577-81E04AEB1936}" sibTransId="{3555743C-CC91-4F42-A225-645D2725231B}"/>
    <dgm:cxn modelId="{F333E98A-A4F3-4801-9F06-5149105BB4E1}" type="presOf" srcId="{0E01B697-237B-4450-93E9-A07CCC1F8013}" destId="{264B6A70-2459-4E42-AFB0-B9C1FF3CD304}" srcOrd="0" destOrd="0" presId="urn:microsoft.com/office/officeart/2008/layout/LinedList"/>
    <dgm:cxn modelId="{8A02609F-4156-488F-8481-71470CE609DF}" type="presOf" srcId="{E3DF4F63-E902-4BB1-AB3E-0B8A6C545251}" destId="{4DEF4B06-FDA0-41C0-826C-BE1894E5C395}" srcOrd="0" destOrd="0" presId="urn:microsoft.com/office/officeart/2008/layout/LinedList"/>
    <dgm:cxn modelId="{394C8DCF-DEA2-46B4-9408-FAA91DDF339E}" type="presOf" srcId="{BCE336E4-B746-4E97-AC6E-BE3A3D022B79}" destId="{2DB94864-6FD1-460F-BBB3-D5D708957104}" srcOrd="0" destOrd="0" presId="urn:microsoft.com/office/officeart/2008/layout/LinedList"/>
    <dgm:cxn modelId="{A24A95D6-879A-4615-9EC5-42E0E09028D1}" srcId="{693040BE-E970-4C7C-A84F-ADB938C676CC}" destId="{E3DF4F63-E902-4BB1-AB3E-0B8A6C545251}" srcOrd="2" destOrd="0" parTransId="{ADCE44E3-81FC-47D5-974F-F2F467C17108}" sibTransId="{46E88A58-AE99-4EEE-9820-7DD966F8F7B5}"/>
    <dgm:cxn modelId="{9EC831DF-B1FE-4127-932B-3ED70D0C6633}" type="presOf" srcId="{BC0075CF-D65F-4956-8AC6-7817043D3B90}" destId="{E113460E-98C0-4CB4-83AA-7AB6D2F8451B}" srcOrd="0" destOrd="0" presId="urn:microsoft.com/office/officeart/2008/layout/LinedList"/>
    <dgm:cxn modelId="{277C5FE0-9DB5-4103-8A25-505EAAC19F5B}" type="presOf" srcId="{5425AEF7-043E-4B14-94DC-03865773A229}" destId="{EF02CC3F-0D50-4EF1-A817-CA747696D597}" srcOrd="0" destOrd="0" presId="urn:microsoft.com/office/officeart/2008/layout/LinedList"/>
    <dgm:cxn modelId="{34B0B7ED-AFC4-4195-A2F5-0E59F5484E6A}" srcId="{693040BE-E970-4C7C-A84F-ADB938C676CC}" destId="{BB2BA9EB-AEDD-45BD-9663-D22D11A1C55D}" srcOrd="6" destOrd="0" parTransId="{E4031C87-DEDA-49BD-8E97-18B338F1D953}" sibTransId="{8D0E1A8F-251C-4A44-926E-7BE2E1BF9E38}"/>
    <dgm:cxn modelId="{0F17A4A2-5E23-46F9-BFF5-388198FFC2EC}" type="presParOf" srcId="{62CBAEE2-60ED-4A89-93E5-8FCF147E0689}" destId="{16AF2054-7FF3-46AE-BEEE-E53DE3E6474D}" srcOrd="0" destOrd="0" presId="urn:microsoft.com/office/officeart/2008/layout/LinedList"/>
    <dgm:cxn modelId="{41C66B49-A366-4AAD-A019-B17DFCCC5C83}" type="presParOf" srcId="{62CBAEE2-60ED-4A89-93E5-8FCF147E0689}" destId="{7FDDB5B5-F6FE-4E7D-B26A-682AF12EC9FD}" srcOrd="1" destOrd="0" presId="urn:microsoft.com/office/officeart/2008/layout/LinedList"/>
    <dgm:cxn modelId="{A19019A0-D104-4E1A-BDC0-3E261C65208B}" type="presParOf" srcId="{7FDDB5B5-F6FE-4E7D-B26A-682AF12EC9FD}" destId="{2DB94864-6FD1-460F-BBB3-D5D708957104}" srcOrd="0" destOrd="0" presId="urn:microsoft.com/office/officeart/2008/layout/LinedList"/>
    <dgm:cxn modelId="{886DB505-01A9-4A3C-8185-416453D8F13B}" type="presParOf" srcId="{7FDDB5B5-F6FE-4E7D-B26A-682AF12EC9FD}" destId="{FE07F7B9-1BF1-41B0-B986-17E6925BF5B7}" srcOrd="1" destOrd="0" presId="urn:microsoft.com/office/officeart/2008/layout/LinedList"/>
    <dgm:cxn modelId="{2E9CB0F8-D364-4F58-B86D-99E6CE2FD32B}" type="presParOf" srcId="{62CBAEE2-60ED-4A89-93E5-8FCF147E0689}" destId="{230FD6BF-0E01-4AB3-AA2A-E9FFEFADEDE4}" srcOrd="2" destOrd="0" presId="urn:microsoft.com/office/officeart/2008/layout/LinedList"/>
    <dgm:cxn modelId="{3842A818-7916-426E-B1B5-6D1DBC414E1F}" type="presParOf" srcId="{62CBAEE2-60ED-4A89-93E5-8FCF147E0689}" destId="{B645EB7E-9E69-47D4-BC42-8C0F695D3725}" srcOrd="3" destOrd="0" presId="urn:microsoft.com/office/officeart/2008/layout/LinedList"/>
    <dgm:cxn modelId="{3AEC5D24-0B64-4CA5-9BFD-5D205C954CEA}" type="presParOf" srcId="{B645EB7E-9E69-47D4-BC42-8C0F695D3725}" destId="{E113460E-98C0-4CB4-83AA-7AB6D2F8451B}" srcOrd="0" destOrd="0" presId="urn:microsoft.com/office/officeart/2008/layout/LinedList"/>
    <dgm:cxn modelId="{763E45D7-EEF7-4F29-AB25-D800A8964024}" type="presParOf" srcId="{B645EB7E-9E69-47D4-BC42-8C0F695D3725}" destId="{50F85BEF-1A15-4F23-B09D-D85665329E35}" srcOrd="1" destOrd="0" presId="urn:microsoft.com/office/officeart/2008/layout/LinedList"/>
    <dgm:cxn modelId="{A7E0DF0E-545F-4998-B576-5EF9BC346552}" type="presParOf" srcId="{62CBAEE2-60ED-4A89-93E5-8FCF147E0689}" destId="{52B66F15-E047-46D6-8FF7-9A340FD7CED3}" srcOrd="4" destOrd="0" presId="urn:microsoft.com/office/officeart/2008/layout/LinedList"/>
    <dgm:cxn modelId="{60B09C09-FF99-4E8F-9E7F-F4057673C8FD}" type="presParOf" srcId="{62CBAEE2-60ED-4A89-93E5-8FCF147E0689}" destId="{7192B34A-D557-4EB1-91E4-AF1B323119EA}" srcOrd="5" destOrd="0" presId="urn:microsoft.com/office/officeart/2008/layout/LinedList"/>
    <dgm:cxn modelId="{D990D625-D9E8-4AD3-A24D-7B31A397610F}" type="presParOf" srcId="{7192B34A-D557-4EB1-91E4-AF1B323119EA}" destId="{4DEF4B06-FDA0-41C0-826C-BE1894E5C395}" srcOrd="0" destOrd="0" presId="urn:microsoft.com/office/officeart/2008/layout/LinedList"/>
    <dgm:cxn modelId="{13F929E4-072D-482C-8240-495DAECE1B30}" type="presParOf" srcId="{7192B34A-D557-4EB1-91E4-AF1B323119EA}" destId="{F6829BBF-F42A-43EA-8DDF-0CCF5AA995D0}" srcOrd="1" destOrd="0" presId="urn:microsoft.com/office/officeart/2008/layout/LinedList"/>
    <dgm:cxn modelId="{12181E67-7B99-45ED-AE84-3CA18C0B3AA2}" type="presParOf" srcId="{62CBAEE2-60ED-4A89-93E5-8FCF147E0689}" destId="{9740FA17-A484-40CC-88D5-7AFCC0BB225C}" srcOrd="6" destOrd="0" presId="urn:microsoft.com/office/officeart/2008/layout/LinedList"/>
    <dgm:cxn modelId="{39D2D89F-EA3A-427A-A6D3-FF14A2809FCA}" type="presParOf" srcId="{62CBAEE2-60ED-4A89-93E5-8FCF147E0689}" destId="{75EEA78C-FFFB-44B5-9D37-470A4A9CF8C5}" srcOrd="7" destOrd="0" presId="urn:microsoft.com/office/officeart/2008/layout/LinedList"/>
    <dgm:cxn modelId="{354D89E2-8FAA-41B3-BD8C-0BBF5203CCFF}" type="presParOf" srcId="{75EEA78C-FFFB-44B5-9D37-470A4A9CF8C5}" destId="{EF02CC3F-0D50-4EF1-A817-CA747696D597}" srcOrd="0" destOrd="0" presId="urn:microsoft.com/office/officeart/2008/layout/LinedList"/>
    <dgm:cxn modelId="{53855DCB-C33A-4B18-80E7-C460BC039743}" type="presParOf" srcId="{75EEA78C-FFFB-44B5-9D37-470A4A9CF8C5}" destId="{83F190D5-38CF-42A6-A19E-EEA9771D482C}" srcOrd="1" destOrd="0" presId="urn:microsoft.com/office/officeart/2008/layout/LinedList"/>
    <dgm:cxn modelId="{9111FCE0-BF0D-4869-9B92-CC8D363E8DAE}" type="presParOf" srcId="{62CBAEE2-60ED-4A89-93E5-8FCF147E0689}" destId="{E47DF425-3423-4421-AF64-88913693C6DD}" srcOrd="8" destOrd="0" presId="urn:microsoft.com/office/officeart/2008/layout/LinedList"/>
    <dgm:cxn modelId="{3EB88A91-E630-4E2F-9840-00AADB8E2682}" type="presParOf" srcId="{62CBAEE2-60ED-4A89-93E5-8FCF147E0689}" destId="{4D1C1696-186F-465B-8058-1BD7AFF1ACC0}" srcOrd="9" destOrd="0" presId="urn:microsoft.com/office/officeart/2008/layout/LinedList"/>
    <dgm:cxn modelId="{C1345E2A-B00E-43FC-BAB2-8B428CAEBD3E}" type="presParOf" srcId="{4D1C1696-186F-465B-8058-1BD7AFF1ACC0}" destId="{264B6A70-2459-4E42-AFB0-B9C1FF3CD304}" srcOrd="0" destOrd="0" presId="urn:microsoft.com/office/officeart/2008/layout/LinedList"/>
    <dgm:cxn modelId="{85DEBDCD-5A40-4B07-84BB-2B22694273FC}" type="presParOf" srcId="{4D1C1696-186F-465B-8058-1BD7AFF1ACC0}" destId="{5C687643-1ED1-4ECF-B1BE-EC460F036D54}" srcOrd="1" destOrd="0" presId="urn:microsoft.com/office/officeart/2008/layout/LinedList"/>
    <dgm:cxn modelId="{8E09CCC8-549E-4154-A090-4E5E4CF80A5A}" type="presParOf" srcId="{62CBAEE2-60ED-4A89-93E5-8FCF147E0689}" destId="{D51D94E7-32A3-44DF-9723-E8E5F563F2F6}" srcOrd="10" destOrd="0" presId="urn:microsoft.com/office/officeart/2008/layout/LinedList"/>
    <dgm:cxn modelId="{AC15E746-DCAE-464D-BCAB-48D71AD80665}" type="presParOf" srcId="{62CBAEE2-60ED-4A89-93E5-8FCF147E0689}" destId="{F9F867CE-765C-44BF-BAC6-A9FDD5D57F7B}" srcOrd="11" destOrd="0" presId="urn:microsoft.com/office/officeart/2008/layout/LinedList"/>
    <dgm:cxn modelId="{5DB2898A-1983-41D4-87FA-BFD82038E73B}" type="presParOf" srcId="{F9F867CE-765C-44BF-BAC6-A9FDD5D57F7B}" destId="{BBB06D73-E031-477C-93E9-1EF4903C0E75}" srcOrd="0" destOrd="0" presId="urn:microsoft.com/office/officeart/2008/layout/LinedList"/>
    <dgm:cxn modelId="{C1B9438F-4ED4-4BAC-9ABE-ABCF42DADEF6}" type="presParOf" srcId="{F9F867CE-765C-44BF-BAC6-A9FDD5D57F7B}" destId="{6777B50B-D247-4C68-B8F3-9363C1F1BEE1}" srcOrd="1" destOrd="0" presId="urn:microsoft.com/office/officeart/2008/layout/LinedList"/>
    <dgm:cxn modelId="{13E6F202-6AC7-49BF-BCF5-25012F994ECD}" type="presParOf" srcId="{62CBAEE2-60ED-4A89-93E5-8FCF147E0689}" destId="{19AF74E6-F6C5-4945-9229-E1AFE689F209}" srcOrd="12" destOrd="0" presId="urn:microsoft.com/office/officeart/2008/layout/LinedList"/>
    <dgm:cxn modelId="{606FFB58-83AE-45EF-93F5-6E9A44F950C2}" type="presParOf" srcId="{62CBAEE2-60ED-4A89-93E5-8FCF147E0689}" destId="{61695166-25A3-435B-A91D-4DA8D902A676}" srcOrd="13" destOrd="0" presId="urn:microsoft.com/office/officeart/2008/layout/LinedList"/>
    <dgm:cxn modelId="{C9C9EE74-6260-4B76-8F67-95875622B946}" type="presParOf" srcId="{61695166-25A3-435B-A91D-4DA8D902A676}" destId="{A84A2FAF-9EEE-4F79-A9CC-A7DD8F7188D5}" srcOrd="0" destOrd="0" presId="urn:microsoft.com/office/officeart/2008/layout/LinedList"/>
    <dgm:cxn modelId="{C68E6896-6E95-4ABD-85B9-B2D2365181B1}" type="presParOf" srcId="{61695166-25A3-435B-A91D-4DA8D902A676}" destId="{F8767037-039D-4B10-B196-5D5E87A9E4A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9327F-74D7-48D2-8CD8-9DD1208AB901}">
      <dsp:nvSpPr>
        <dsp:cNvPr id="0" name=""/>
        <dsp:cNvSpPr/>
      </dsp:nvSpPr>
      <dsp:spPr>
        <a:xfrm>
          <a:off x="0" y="2398"/>
          <a:ext cx="6669431" cy="12154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44E829-4A10-448F-A64C-A69790B34BFD}">
      <dsp:nvSpPr>
        <dsp:cNvPr id="0" name=""/>
        <dsp:cNvSpPr/>
      </dsp:nvSpPr>
      <dsp:spPr>
        <a:xfrm>
          <a:off x="367661" y="275865"/>
          <a:ext cx="668476" cy="6684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8BC28A-878D-4876-937B-9A08941BE3E6}">
      <dsp:nvSpPr>
        <dsp:cNvPr id="0" name=""/>
        <dsp:cNvSpPr/>
      </dsp:nvSpPr>
      <dsp:spPr>
        <a:xfrm>
          <a:off x="1403800" y="2398"/>
          <a:ext cx="5265630" cy="1215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631" tIns="128631" rIns="128631" bIns="128631" numCol="1" spcCol="1270" anchor="ctr" anchorCtr="0">
          <a:noAutofit/>
        </a:bodyPr>
        <a:lstStyle/>
        <a:p>
          <a:pPr marL="0" lvl="0" indent="0" algn="l" defTabSz="977900">
            <a:lnSpc>
              <a:spcPct val="90000"/>
            </a:lnSpc>
            <a:spcBef>
              <a:spcPct val="0"/>
            </a:spcBef>
            <a:spcAft>
              <a:spcPct val="35000"/>
            </a:spcAft>
            <a:buNone/>
          </a:pPr>
          <a:r>
            <a:rPr lang="en-US" sz="2200" b="1" i="1" kern="1200"/>
            <a:t>Do political statements exhibit consistent topical structure?</a:t>
          </a:r>
          <a:endParaRPr lang="en-US" sz="2200" kern="1200"/>
        </a:p>
      </dsp:txBody>
      <dsp:txXfrm>
        <a:off x="1403800" y="2398"/>
        <a:ext cx="5265630" cy="1215411"/>
      </dsp:txXfrm>
    </dsp:sp>
    <dsp:sp modelId="{789ACD89-4D28-47F5-A759-BD708E12F6CC}">
      <dsp:nvSpPr>
        <dsp:cNvPr id="0" name=""/>
        <dsp:cNvSpPr/>
      </dsp:nvSpPr>
      <dsp:spPr>
        <a:xfrm>
          <a:off x="0" y="1521662"/>
          <a:ext cx="6669431" cy="12154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4C0E7E-3957-42AE-A881-389BFB370AFE}">
      <dsp:nvSpPr>
        <dsp:cNvPr id="0" name=""/>
        <dsp:cNvSpPr/>
      </dsp:nvSpPr>
      <dsp:spPr>
        <a:xfrm>
          <a:off x="367661" y="1795129"/>
          <a:ext cx="668476" cy="6684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72692DD-47BA-47CB-9024-479467120255}">
      <dsp:nvSpPr>
        <dsp:cNvPr id="0" name=""/>
        <dsp:cNvSpPr/>
      </dsp:nvSpPr>
      <dsp:spPr>
        <a:xfrm>
          <a:off x="1403800" y="1521662"/>
          <a:ext cx="5265630" cy="1215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631" tIns="128631" rIns="128631" bIns="128631" numCol="1" spcCol="1270" anchor="ctr" anchorCtr="0">
          <a:noAutofit/>
        </a:bodyPr>
        <a:lstStyle/>
        <a:p>
          <a:pPr marL="0" lvl="0" indent="0" algn="l" defTabSz="977900">
            <a:lnSpc>
              <a:spcPct val="90000"/>
            </a:lnSpc>
            <a:spcBef>
              <a:spcPct val="0"/>
            </a:spcBef>
            <a:spcAft>
              <a:spcPct val="35000"/>
            </a:spcAft>
            <a:buNone/>
          </a:pPr>
          <a:r>
            <a:rPr lang="en-US" sz="2200" b="1" i="1" kern="1200"/>
            <a:t>Are some topics more strongly associated with misinformation?</a:t>
          </a:r>
          <a:endParaRPr lang="en-US" sz="2200" kern="1200"/>
        </a:p>
      </dsp:txBody>
      <dsp:txXfrm>
        <a:off x="1403800" y="1521662"/>
        <a:ext cx="5265630" cy="1215411"/>
      </dsp:txXfrm>
    </dsp:sp>
    <dsp:sp modelId="{105EDCBD-CBAA-42E8-8DDA-8378E13634F3}">
      <dsp:nvSpPr>
        <dsp:cNvPr id="0" name=""/>
        <dsp:cNvSpPr/>
      </dsp:nvSpPr>
      <dsp:spPr>
        <a:xfrm>
          <a:off x="0" y="3040926"/>
          <a:ext cx="6669431" cy="12154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188A79-AD39-4B60-890E-8A4FCBCCEBB3}">
      <dsp:nvSpPr>
        <dsp:cNvPr id="0" name=""/>
        <dsp:cNvSpPr/>
      </dsp:nvSpPr>
      <dsp:spPr>
        <a:xfrm>
          <a:off x="367661" y="3314393"/>
          <a:ext cx="668476" cy="66847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189930-23CD-4353-A0F4-EE46702EC61C}">
      <dsp:nvSpPr>
        <dsp:cNvPr id="0" name=""/>
        <dsp:cNvSpPr/>
      </dsp:nvSpPr>
      <dsp:spPr>
        <a:xfrm>
          <a:off x="1403800" y="3040926"/>
          <a:ext cx="5265630" cy="1215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631" tIns="128631" rIns="128631" bIns="128631" numCol="1" spcCol="1270" anchor="ctr" anchorCtr="0">
          <a:noAutofit/>
        </a:bodyPr>
        <a:lstStyle/>
        <a:p>
          <a:pPr marL="0" lvl="0" indent="0" algn="l" defTabSz="977900">
            <a:lnSpc>
              <a:spcPct val="90000"/>
            </a:lnSpc>
            <a:spcBef>
              <a:spcPct val="0"/>
            </a:spcBef>
            <a:spcAft>
              <a:spcPct val="35000"/>
            </a:spcAft>
            <a:buNone/>
          </a:pPr>
          <a:r>
            <a:rPr lang="en-US" sz="2200" b="1" i="1" kern="1200"/>
            <a:t>Can linguistic features predict whether a statement is misinformation?</a:t>
          </a:r>
          <a:endParaRPr lang="en-US" sz="2200" kern="1200"/>
        </a:p>
      </dsp:txBody>
      <dsp:txXfrm>
        <a:off x="1403800" y="3040926"/>
        <a:ext cx="5265630" cy="1215411"/>
      </dsp:txXfrm>
    </dsp:sp>
    <dsp:sp modelId="{2874C8E3-2B84-43B4-8C48-F2F26991338D}">
      <dsp:nvSpPr>
        <dsp:cNvPr id="0" name=""/>
        <dsp:cNvSpPr/>
      </dsp:nvSpPr>
      <dsp:spPr>
        <a:xfrm>
          <a:off x="0" y="4560190"/>
          <a:ext cx="6669431" cy="12154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E2B566-A27E-4B1C-A562-D21DE3E5B0B5}">
      <dsp:nvSpPr>
        <dsp:cNvPr id="0" name=""/>
        <dsp:cNvSpPr/>
      </dsp:nvSpPr>
      <dsp:spPr>
        <a:xfrm>
          <a:off x="367661" y="4833658"/>
          <a:ext cx="668476" cy="66847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BF6787-34C3-46E8-BBCE-26CC6C6352B4}">
      <dsp:nvSpPr>
        <dsp:cNvPr id="0" name=""/>
        <dsp:cNvSpPr/>
      </dsp:nvSpPr>
      <dsp:spPr>
        <a:xfrm>
          <a:off x="1403800" y="4560190"/>
          <a:ext cx="5265630" cy="1215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631" tIns="128631" rIns="128631" bIns="128631" numCol="1" spcCol="1270" anchor="ctr" anchorCtr="0">
          <a:noAutofit/>
        </a:bodyPr>
        <a:lstStyle/>
        <a:p>
          <a:pPr marL="0" lvl="0" indent="0" algn="l" defTabSz="977900">
            <a:lnSpc>
              <a:spcPct val="90000"/>
            </a:lnSpc>
            <a:spcBef>
              <a:spcPct val="0"/>
            </a:spcBef>
            <a:spcAft>
              <a:spcPct val="35000"/>
            </a:spcAft>
            <a:buNone/>
          </a:pPr>
          <a:r>
            <a:rPr lang="en-US" sz="2200" b="1" i="1" kern="1200"/>
            <a:t>What does the semantic structure of political language look like?</a:t>
          </a:r>
          <a:endParaRPr lang="en-US" sz="2200" kern="1200"/>
        </a:p>
      </dsp:txBody>
      <dsp:txXfrm>
        <a:off x="1403800" y="4560190"/>
        <a:ext cx="5265630" cy="12154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AF2054-7FF3-46AE-BEEE-E53DE3E6474D}">
      <dsp:nvSpPr>
        <dsp:cNvPr id="0" name=""/>
        <dsp:cNvSpPr/>
      </dsp:nvSpPr>
      <dsp:spPr>
        <a:xfrm>
          <a:off x="0" y="705"/>
          <a:ext cx="6669431" cy="0"/>
        </a:xfrm>
        <a:prstGeom prst="line">
          <a:avLst/>
        </a:prstGeom>
        <a:solidFill>
          <a:schemeClr val="accent2">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DB94864-6FD1-460F-BBB3-D5D708957104}">
      <dsp:nvSpPr>
        <dsp:cNvPr id="0" name=""/>
        <dsp:cNvSpPr/>
      </dsp:nvSpPr>
      <dsp:spPr>
        <a:xfrm>
          <a:off x="0" y="705"/>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Removed empty/missing statements</a:t>
          </a:r>
        </a:p>
      </dsp:txBody>
      <dsp:txXfrm>
        <a:off x="0" y="705"/>
        <a:ext cx="6669431" cy="825227"/>
      </dsp:txXfrm>
    </dsp:sp>
    <dsp:sp modelId="{230FD6BF-0E01-4AB3-AA2A-E9FFEFADEDE4}">
      <dsp:nvSpPr>
        <dsp:cNvPr id="0" name=""/>
        <dsp:cNvSpPr/>
      </dsp:nvSpPr>
      <dsp:spPr>
        <a:xfrm>
          <a:off x="0" y="825932"/>
          <a:ext cx="6669431" cy="0"/>
        </a:xfrm>
        <a:prstGeom prst="line">
          <a:avLst/>
        </a:prstGeom>
        <a:solidFill>
          <a:schemeClr val="accent2">
            <a:hueOff val="159678"/>
            <a:satOff val="-913"/>
            <a:lumOff val="882"/>
            <a:alphaOff val="0"/>
          </a:schemeClr>
        </a:solidFill>
        <a:ln w="9525" cap="flat" cmpd="sng" algn="ctr">
          <a:solidFill>
            <a:schemeClr val="accent2">
              <a:hueOff val="159678"/>
              <a:satOff val="-913"/>
              <a:lumOff val="882"/>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113460E-98C0-4CB4-83AA-7AB6D2F8451B}">
      <dsp:nvSpPr>
        <dsp:cNvPr id="0" name=""/>
        <dsp:cNvSpPr/>
      </dsp:nvSpPr>
      <dsp:spPr>
        <a:xfrm>
          <a:off x="0" y="825932"/>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Standardized truth labels</a:t>
          </a:r>
        </a:p>
      </dsp:txBody>
      <dsp:txXfrm>
        <a:off x="0" y="825932"/>
        <a:ext cx="6669431" cy="825227"/>
      </dsp:txXfrm>
    </dsp:sp>
    <dsp:sp modelId="{52B66F15-E047-46D6-8FF7-9A340FD7CED3}">
      <dsp:nvSpPr>
        <dsp:cNvPr id="0" name=""/>
        <dsp:cNvSpPr/>
      </dsp:nvSpPr>
      <dsp:spPr>
        <a:xfrm>
          <a:off x="0" y="1651159"/>
          <a:ext cx="6669431" cy="0"/>
        </a:xfrm>
        <a:prstGeom prst="line">
          <a:avLst/>
        </a:prstGeom>
        <a:solidFill>
          <a:schemeClr val="accent2">
            <a:hueOff val="319356"/>
            <a:satOff val="-1825"/>
            <a:lumOff val="1765"/>
            <a:alphaOff val="0"/>
          </a:schemeClr>
        </a:solidFill>
        <a:ln w="9525" cap="flat" cmpd="sng" algn="ctr">
          <a:solidFill>
            <a:schemeClr val="accent2">
              <a:hueOff val="319356"/>
              <a:satOff val="-1825"/>
              <a:lumOff val="1765"/>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DEF4B06-FDA0-41C0-826C-BE1894E5C395}">
      <dsp:nvSpPr>
        <dsp:cNvPr id="0" name=""/>
        <dsp:cNvSpPr/>
      </dsp:nvSpPr>
      <dsp:spPr>
        <a:xfrm>
          <a:off x="0" y="1651159"/>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t>Tokenized and lowercased text</a:t>
          </a:r>
        </a:p>
      </dsp:txBody>
      <dsp:txXfrm>
        <a:off x="0" y="1651159"/>
        <a:ext cx="6669431" cy="825227"/>
      </dsp:txXfrm>
    </dsp:sp>
    <dsp:sp modelId="{9740FA17-A484-40CC-88D5-7AFCC0BB225C}">
      <dsp:nvSpPr>
        <dsp:cNvPr id="0" name=""/>
        <dsp:cNvSpPr/>
      </dsp:nvSpPr>
      <dsp:spPr>
        <a:xfrm>
          <a:off x="0" y="2476386"/>
          <a:ext cx="6669431" cy="0"/>
        </a:xfrm>
        <a:prstGeom prst="line">
          <a:avLst/>
        </a:prstGeom>
        <a:solidFill>
          <a:schemeClr val="accent2">
            <a:hueOff val="479033"/>
            <a:satOff val="-2738"/>
            <a:lumOff val="2647"/>
            <a:alphaOff val="0"/>
          </a:schemeClr>
        </a:solidFill>
        <a:ln w="9525" cap="flat" cmpd="sng" algn="ctr">
          <a:solidFill>
            <a:schemeClr val="accent2">
              <a:hueOff val="479033"/>
              <a:satOff val="-2738"/>
              <a:lumOff val="2647"/>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F02CC3F-0D50-4EF1-A817-CA747696D597}">
      <dsp:nvSpPr>
        <dsp:cNvPr id="0" name=""/>
        <dsp:cNvSpPr/>
      </dsp:nvSpPr>
      <dsp:spPr>
        <a:xfrm>
          <a:off x="0" y="2476386"/>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Removed punctuation, numbers, and stopwords</a:t>
          </a:r>
        </a:p>
      </dsp:txBody>
      <dsp:txXfrm>
        <a:off x="0" y="2476386"/>
        <a:ext cx="6669431" cy="825227"/>
      </dsp:txXfrm>
    </dsp:sp>
    <dsp:sp modelId="{E47DF425-3423-4421-AF64-88913693C6DD}">
      <dsp:nvSpPr>
        <dsp:cNvPr id="0" name=""/>
        <dsp:cNvSpPr/>
      </dsp:nvSpPr>
      <dsp:spPr>
        <a:xfrm>
          <a:off x="0" y="3301613"/>
          <a:ext cx="6669431" cy="0"/>
        </a:xfrm>
        <a:prstGeom prst="line">
          <a:avLst/>
        </a:prstGeom>
        <a:solidFill>
          <a:schemeClr val="accent2">
            <a:hueOff val="638711"/>
            <a:satOff val="-3650"/>
            <a:lumOff val="3530"/>
            <a:alphaOff val="0"/>
          </a:schemeClr>
        </a:solidFill>
        <a:ln w="9525" cap="flat" cmpd="sng" algn="ctr">
          <a:solidFill>
            <a:schemeClr val="accent2">
              <a:hueOff val="638711"/>
              <a:satOff val="-3650"/>
              <a:lumOff val="353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64B6A70-2459-4E42-AFB0-B9C1FF3CD304}">
      <dsp:nvSpPr>
        <dsp:cNvPr id="0" name=""/>
        <dsp:cNvSpPr/>
      </dsp:nvSpPr>
      <dsp:spPr>
        <a:xfrm>
          <a:off x="0" y="3301613"/>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Built document-feature matrix (DFM)</a:t>
          </a:r>
        </a:p>
      </dsp:txBody>
      <dsp:txXfrm>
        <a:off x="0" y="3301613"/>
        <a:ext cx="6669431" cy="825227"/>
      </dsp:txXfrm>
    </dsp:sp>
    <dsp:sp modelId="{D51D94E7-32A3-44DF-9723-E8E5F563F2F6}">
      <dsp:nvSpPr>
        <dsp:cNvPr id="0" name=""/>
        <dsp:cNvSpPr/>
      </dsp:nvSpPr>
      <dsp:spPr>
        <a:xfrm>
          <a:off x="0" y="4126840"/>
          <a:ext cx="6669431" cy="0"/>
        </a:xfrm>
        <a:prstGeom prst="line">
          <a:avLst/>
        </a:prstGeom>
        <a:solidFill>
          <a:schemeClr val="accent2">
            <a:hueOff val="798389"/>
            <a:satOff val="-4563"/>
            <a:lumOff val="4412"/>
            <a:alphaOff val="0"/>
          </a:schemeClr>
        </a:solidFill>
        <a:ln w="9525" cap="flat" cmpd="sng" algn="ctr">
          <a:solidFill>
            <a:schemeClr val="accent2">
              <a:hueOff val="798389"/>
              <a:satOff val="-4563"/>
              <a:lumOff val="4412"/>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BB06D73-E031-477C-93E9-1EF4903C0E75}">
      <dsp:nvSpPr>
        <dsp:cNvPr id="0" name=""/>
        <dsp:cNvSpPr/>
      </dsp:nvSpPr>
      <dsp:spPr>
        <a:xfrm>
          <a:off x="0" y="4126840"/>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Trimmed rare terms to reduce noise</a:t>
          </a:r>
        </a:p>
      </dsp:txBody>
      <dsp:txXfrm>
        <a:off x="0" y="4126840"/>
        <a:ext cx="6669431" cy="825227"/>
      </dsp:txXfrm>
    </dsp:sp>
    <dsp:sp modelId="{19AF74E6-F6C5-4945-9229-E1AFE689F209}">
      <dsp:nvSpPr>
        <dsp:cNvPr id="0" name=""/>
        <dsp:cNvSpPr/>
      </dsp:nvSpPr>
      <dsp:spPr>
        <a:xfrm>
          <a:off x="0" y="4952067"/>
          <a:ext cx="6669431" cy="0"/>
        </a:xfrm>
        <a:prstGeom prst="line">
          <a:avLst/>
        </a:prstGeom>
        <a:solidFill>
          <a:schemeClr val="accent2">
            <a:hueOff val="958067"/>
            <a:satOff val="-5475"/>
            <a:lumOff val="5295"/>
            <a:alphaOff val="0"/>
          </a:schemeClr>
        </a:solidFill>
        <a:ln w="9525" cap="flat" cmpd="sng" algn="ctr">
          <a:solidFill>
            <a:schemeClr val="accent2">
              <a:hueOff val="958067"/>
              <a:satOff val="-5475"/>
              <a:lumOff val="5295"/>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A84A2FAF-9EEE-4F79-A9CC-A7DD8F7188D5}">
      <dsp:nvSpPr>
        <dsp:cNvPr id="0" name=""/>
        <dsp:cNvSpPr/>
      </dsp:nvSpPr>
      <dsp:spPr>
        <a:xfrm>
          <a:off x="0" y="4952067"/>
          <a:ext cx="6669431"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Prepared data for LDA, STM, classification, and embeddings</a:t>
          </a:r>
        </a:p>
      </dsp:txBody>
      <dsp:txXfrm>
        <a:off x="0" y="4952067"/>
        <a:ext cx="6669431" cy="82522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22A2D-42FA-4553-8772-8DAE87B769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FDD895D-FAE0-4BCC-A867-FF4B70D9BF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68A188-91E3-4091-B70E-E1E6D807C522}" type="datetimeFigureOut">
              <a:rPr lang="en-US" smtClean="0"/>
              <a:t>12/7/2025</a:t>
            </a:fld>
            <a:endParaRPr lang="en-US" dirty="0"/>
          </a:p>
        </p:txBody>
      </p:sp>
      <p:sp>
        <p:nvSpPr>
          <p:cNvPr id="4" name="Footer Placeholder 3">
            <a:extLst>
              <a:ext uri="{FF2B5EF4-FFF2-40B4-BE49-F238E27FC236}">
                <a16:creationId xmlns:a16="http://schemas.microsoft.com/office/drawing/2014/main" id="{4C4706EC-595E-4FD0-9EC4-968864CC93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699D8E-A980-43D3-BFB9-0812FFA36A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4EE72E-E5A5-44ED-A736-DB8D8EE9B4C6}" type="slidenum">
              <a:rPr lang="en-US" smtClean="0"/>
              <a:t>‹#›</a:t>
            </a:fld>
            <a:endParaRPr lang="en-US" dirty="0"/>
          </a:p>
        </p:txBody>
      </p:sp>
    </p:spTree>
    <p:extLst>
      <p:ext uri="{BB962C8B-B14F-4D97-AF65-F5344CB8AC3E}">
        <p14:creationId xmlns:p14="http://schemas.microsoft.com/office/powerpoint/2010/main" val="39461741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C02412-B176-4E06-823F-C66FEB3E21FB}" type="datetimeFigureOut">
              <a:rPr lang="en-US" smtClean="0"/>
              <a:t>12/7/2025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942FC2-A162-47B3-989B-571A62414964}" type="slidenum">
              <a:rPr lang="en-US" smtClean="0"/>
              <a:t>‹#›</a:t>
            </a:fld>
            <a:endParaRPr lang="en-US" dirty="0"/>
          </a:p>
        </p:txBody>
      </p:sp>
    </p:spTree>
    <p:extLst>
      <p:ext uri="{BB962C8B-B14F-4D97-AF65-F5344CB8AC3E}">
        <p14:creationId xmlns:p14="http://schemas.microsoft.com/office/powerpoint/2010/main" val="389132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Cruz Lawrence-Mayes, and this presentation summarizes my final text analysis project for SOCI 5155. My project focuses on political misinformation and explores how deceptive versus accurate political statements differ in terms of language, themes, and semantic structure. The analyses are based on the LIAR dataset, which contains thousands of fact-checked political claims. Throughout this presentation, I’ll walk through my research questions, preprocessing steps, the four analytical techniques I used, and the main findings from each</a:t>
            </a:r>
          </a:p>
        </p:txBody>
      </p:sp>
      <p:sp>
        <p:nvSpPr>
          <p:cNvPr id="4" name="Slide Number Placeholder 3"/>
          <p:cNvSpPr>
            <a:spLocks noGrp="1"/>
          </p:cNvSpPr>
          <p:nvPr>
            <p:ph type="sldNum" sz="quarter" idx="5"/>
          </p:nvPr>
        </p:nvSpPr>
        <p:spPr/>
        <p:txBody>
          <a:bodyPr/>
          <a:lstStyle/>
          <a:p>
            <a:fld id="{8D942FC2-A162-47B3-989B-571A62414964}" type="slidenum">
              <a:rPr lang="en-US" smtClean="0"/>
              <a:t>1</a:t>
            </a:fld>
            <a:endParaRPr lang="en-US" dirty="0"/>
          </a:p>
        </p:txBody>
      </p:sp>
    </p:spTree>
    <p:extLst>
      <p:ext uri="{BB962C8B-B14F-4D97-AF65-F5344CB8AC3E}">
        <p14:creationId xmlns:p14="http://schemas.microsoft.com/office/powerpoint/2010/main" val="3630900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183D3-623C-C08E-D497-82753B23D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4F73A-A8C9-2923-BC4B-70EA53A22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EABA05-196D-7C5B-3A0F-098987097D73}"/>
              </a:ext>
            </a:extLst>
          </p:cNvPr>
          <p:cNvSpPr>
            <a:spLocks noGrp="1"/>
          </p:cNvSpPr>
          <p:nvPr>
            <p:ph type="body" idx="1"/>
          </p:nvPr>
        </p:nvSpPr>
        <p:spPr/>
        <p:txBody>
          <a:bodyPr/>
          <a:lstStyle/>
          <a:p>
            <a:r>
              <a:rPr lang="en-US" dirty="0"/>
              <a:t>These are the four empirical questions that guided my project.</a:t>
            </a:r>
          </a:p>
          <a:p>
            <a:r>
              <a:rPr lang="en-US" dirty="0"/>
              <a:t>First, I wanted to know whether political statements naturally cluster into coherent themes or topics.</a:t>
            </a:r>
          </a:p>
          <a:p>
            <a:r>
              <a:rPr lang="en-US" dirty="0"/>
              <a:t>Second, I was interested in whether certain topics tend to appear more often in misinformation categories like ‘pants-fire’ or ‘false.’</a:t>
            </a:r>
          </a:p>
          <a:p>
            <a:r>
              <a:rPr lang="en-US" dirty="0"/>
              <a:t>Third, I explored whether linguistic features alone can accurately predict misinformation, which I tested using a Naive Bayes classifier.</a:t>
            </a:r>
          </a:p>
          <a:p>
            <a:r>
              <a:rPr lang="en-US" dirty="0"/>
              <a:t>And finally, I wanted to understand the broader semantic landscape of political language, which I examined through word embeddings.</a:t>
            </a:r>
          </a:p>
          <a:p>
            <a:r>
              <a:rPr lang="en-US" dirty="0"/>
              <a:t>Each of the methods I use later in the presentation connects directly back to one or more of these questions.</a:t>
            </a:r>
          </a:p>
          <a:p>
            <a:endParaRPr lang="en-US" dirty="0"/>
          </a:p>
        </p:txBody>
      </p:sp>
      <p:sp>
        <p:nvSpPr>
          <p:cNvPr id="4" name="Slide Number Placeholder 3">
            <a:extLst>
              <a:ext uri="{FF2B5EF4-FFF2-40B4-BE49-F238E27FC236}">
                <a16:creationId xmlns:a16="http://schemas.microsoft.com/office/drawing/2014/main" id="{2A7AD14D-9DF4-EC81-7899-94EDABDA31FB}"/>
              </a:ext>
            </a:extLst>
          </p:cNvPr>
          <p:cNvSpPr>
            <a:spLocks noGrp="1"/>
          </p:cNvSpPr>
          <p:nvPr>
            <p:ph type="sldNum" sz="quarter" idx="5"/>
          </p:nvPr>
        </p:nvSpPr>
        <p:spPr/>
        <p:txBody>
          <a:bodyPr/>
          <a:lstStyle/>
          <a:p>
            <a:fld id="{8D942FC2-A162-47B3-989B-571A62414964}" type="slidenum">
              <a:rPr lang="en-US" smtClean="0"/>
              <a:t>2</a:t>
            </a:fld>
            <a:endParaRPr lang="en-US" dirty="0"/>
          </a:p>
        </p:txBody>
      </p:sp>
    </p:spTree>
    <p:extLst>
      <p:ext uri="{BB962C8B-B14F-4D97-AF65-F5344CB8AC3E}">
        <p14:creationId xmlns:p14="http://schemas.microsoft.com/office/powerpoint/2010/main" val="4080524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I used the LIAR dataset, which is a well-known collection of political statements that have been fact-checked by PolitiFact. It contains a little over twelve thousand short statements, each assigned one of six truthfulness labels ranging from ‘true’ to ‘pants-fire.’</a:t>
            </a:r>
          </a:p>
          <a:p>
            <a:r>
              <a:rPr lang="en-US" dirty="0"/>
              <a:t>In addition to the statement itself, the dataset includes metadata like the speaker, the subject category, the speaker’s job, and some contextual notes. This makes it a really strong dataset for studying misinformation because the truth labels give us a reliable reference point, and the size of the dataset is large enough to support techniques like topic modeling, classification, and word embeddings.</a:t>
            </a:r>
          </a:p>
          <a:p>
            <a:r>
              <a:rPr lang="en-US" dirty="0"/>
              <a:t>Throughout the analysis, I focused primarily on how these truth categories relate to linguistic and topical patterns in the data.</a:t>
            </a:r>
          </a:p>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3</a:t>
            </a:fld>
            <a:endParaRPr lang="en-US" dirty="0"/>
          </a:p>
        </p:txBody>
      </p:sp>
    </p:spTree>
    <p:extLst>
      <p:ext uri="{BB962C8B-B14F-4D97-AF65-F5344CB8AC3E}">
        <p14:creationId xmlns:p14="http://schemas.microsoft.com/office/powerpoint/2010/main" val="2284856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any of the analysis techniques, I followed a standard preprocessing workflow similar to what we’ve used throughout the course. First, I removed any empty or missing statements and converted the truth labels into a clean, ordered factor.</a:t>
            </a:r>
          </a:p>
          <a:p>
            <a:r>
              <a:rPr lang="en-US" dirty="0"/>
              <a:t>Next, I tokenized the text, lowercased everything, and removed punctuation, numbers, and English </a:t>
            </a:r>
            <a:r>
              <a:rPr lang="en-US" dirty="0" err="1"/>
              <a:t>stopwords</a:t>
            </a:r>
            <a:r>
              <a:rPr lang="en-US" dirty="0"/>
              <a:t>. After that, I built a document-feature matrix to represent each statement as a collection of word counts. I also trimmed out rare terms that appeared only a handful of times since those usually add noise and don’t contribute much to topic models or classifiers.</a:t>
            </a:r>
          </a:p>
          <a:p>
            <a:r>
              <a:rPr lang="en-US" dirty="0"/>
              <a:t>These cleaned representations were then used as the input for all four techniques later in the project: LDA, STM, the Naive Bayes classifier, and the word embeddings. Keeping the preprocessing consistent across all methods helps ensure that the results are comparable and meaningful.</a:t>
            </a:r>
          </a:p>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4</a:t>
            </a:fld>
            <a:endParaRPr lang="en-US" dirty="0"/>
          </a:p>
        </p:txBody>
      </p:sp>
    </p:spTree>
    <p:extLst>
      <p:ext uri="{BB962C8B-B14F-4D97-AF65-F5344CB8AC3E}">
        <p14:creationId xmlns:p14="http://schemas.microsoft.com/office/powerpoint/2010/main" val="1270261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technique was Latent Dirichlet Allocation, or LDA. This is an unsupervised topic modeling method that identifies clusters of words that tend to appear together, which we treat as underlying topics.</a:t>
            </a:r>
          </a:p>
          <a:p>
            <a:r>
              <a:rPr lang="en-US" dirty="0"/>
              <a:t>LDA assumes that every statement in the dataset is made up of a mixture of topics, and that each topic is defined by a distinctive set of words. This makes it useful for answering my first empirical question: do political statements naturally organize into consistent themes?</a:t>
            </a:r>
          </a:p>
          <a:p>
            <a:r>
              <a:rPr lang="en-US" dirty="0"/>
              <a:t>LDA doesn’t use the truth labels at all — it simply reveals the kinds of issues that dominate the dataset overall. Once those themes are identified, they can be compared later with misinformation patterns using STM.</a:t>
            </a:r>
          </a:p>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5</a:t>
            </a:fld>
            <a:endParaRPr lang="en-US" dirty="0"/>
          </a:p>
        </p:txBody>
      </p:sp>
    </p:spTree>
    <p:extLst>
      <p:ext uri="{BB962C8B-B14F-4D97-AF65-F5344CB8AC3E}">
        <p14:creationId xmlns:p14="http://schemas.microsoft.com/office/powerpoint/2010/main" val="1570890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8EDB8-29FA-B208-3521-AB61E1A1E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78503-031B-390D-F882-AF13C842E2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DA40A8-C08A-3E0B-0FCD-B53664DC8C80}"/>
              </a:ext>
            </a:extLst>
          </p:cNvPr>
          <p:cNvSpPr>
            <a:spLocks noGrp="1"/>
          </p:cNvSpPr>
          <p:nvPr>
            <p:ph type="body" idx="1"/>
          </p:nvPr>
        </p:nvSpPr>
        <p:spPr/>
        <p:txBody>
          <a:bodyPr/>
          <a:lstStyle/>
          <a:p>
            <a:r>
              <a:rPr lang="en-US" dirty="0"/>
              <a:t>Here are the results from the LDA model. I ran a 10-topic solution, and all ten topics came out relatively clean and easy to interpret. The table shows the top words for each topic, which makes the underlying themes pretty clear.</a:t>
            </a:r>
          </a:p>
          <a:p>
            <a:r>
              <a:rPr lang="en-US" dirty="0"/>
              <a:t>Some topics revolve around elections and voting, others around taxes and government spending, and others around healthcare or immigration. One thing that stood out is that the topics are fairly balanced — no single issue dominates the dataset.</a:t>
            </a:r>
          </a:p>
          <a:p>
            <a:r>
              <a:rPr lang="en-US" dirty="0"/>
              <a:t>This tells us that political statements in the LIAR dataset are organized into recognizable issue areas. And this directly answers my first empirical question: yes, political statements show strong and consistent topical structure.</a:t>
            </a:r>
          </a:p>
          <a:p>
            <a:r>
              <a:rPr lang="en-US" dirty="0"/>
              <a:t>LDA sets the stage for the next step, where we examine which of these topics relate more closely to misinformation using STM.</a:t>
            </a:r>
          </a:p>
          <a:p>
            <a:endParaRPr lang="en-US" dirty="0"/>
          </a:p>
        </p:txBody>
      </p:sp>
      <p:sp>
        <p:nvSpPr>
          <p:cNvPr id="4" name="Slide Number Placeholder 3">
            <a:extLst>
              <a:ext uri="{FF2B5EF4-FFF2-40B4-BE49-F238E27FC236}">
                <a16:creationId xmlns:a16="http://schemas.microsoft.com/office/drawing/2014/main" id="{F750422A-0B8C-69B4-CEF5-5D504CF1DFBB}"/>
              </a:ext>
            </a:extLst>
          </p:cNvPr>
          <p:cNvSpPr>
            <a:spLocks noGrp="1"/>
          </p:cNvSpPr>
          <p:nvPr>
            <p:ph type="sldNum" sz="quarter" idx="5"/>
          </p:nvPr>
        </p:nvSpPr>
        <p:spPr/>
        <p:txBody>
          <a:bodyPr/>
          <a:lstStyle/>
          <a:p>
            <a:fld id="{8D942FC2-A162-47B3-989B-571A62414964}" type="slidenum">
              <a:rPr lang="en-US" smtClean="0"/>
              <a:t>6</a:t>
            </a:fld>
            <a:endParaRPr lang="en-US" dirty="0"/>
          </a:p>
        </p:txBody>
      </p:sp>
    </p:spTree>
    <p:extLst>
      <p:ext uri="{BB962C8B-B14F-4D97-AF65-F5344CB8AC3E}">
        <p14:creationId xmlns:p14="http://schemas.microsoft.com/office/powerpoint/2010/main" val="3691379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31AB7-9A01-6A31-99EB-50B1E85FC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15B15-19FD-EC73-D089-8809212F14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81379-5EA5-0D25-D963-B9088F4D3682}"/>
              </a:ext>
            </a:extLst>
          </p:cNvPr>
          <p:cNvSpPr>
            <a:spLocks noGrp="1"/>
          </p:cNvSpPr>
          <p:nvPr>
            <p:ph type="body" idx="1"/>
          </p:nvPr>
        </p:nvSpPr>
        <p:spPr/>
        <p:txBody>
          <a:bodyPr/>
          <a:lstStyle/>
          <a:p>
            <a:r>
              <a:rPr lang="en-US" dirty="0"/>
              <a:t>My second technique was Structural Topic Modeling, or STM. STM works a lot like LDA because it still identifies topics based on word patterns, but it adds one major improvement: it can incorporate metadata directly into the model.</a:t>
            </a:r>
          </a:p>
          <a:p>
            <a:r>
              <a:rPr lang="en-US" dirty="0"/>
              <a:t>In this case, I included each statement’s truthfulness label as a covariate. That means the model not only estimates the topics themselves but also how common each topic is within different truth categories — like ‘pants-fire,’ ‘false,’ ‘half-true,’ and so on.</a:t>
            </a:r>
          </a:p>
          <a:p>
            <a:r>
              <a:rPr lang="en-US" dirty="0"/>
              <a:t>STM is the best choice for my second empirical question: are certain topics more closely associated with misinformation? Unlike LDA, which treats all documents the same, STM allows us to compare topic prevalence across truth labels and see where misinformation tends to cluster.</a:t>
            </a:r>
          </a:p>
          <a:p>
            <a:r>
              <a:rPr lang="en-US" dirty="0"/>
              <a:t>This makes STM especially powerful for studying political deception because it directly connects themes with accuracy levels.</a:t>
            </a:r>
          </a:p>
          <a:p>
            <a:endParaRPr lang="en-US" dirty="0"/>
          </a:p>
        </p:txBody>
      </p:sp>
      <p:sp>
        <p:nvSpPr>
          <p:cNvPr id="4" name="Slide Number Placeholder 3">
            <a:extLst>
              <a:ext uri="{FF2B5EF4-FFF2-40B4-BE49-F238E27FC236}">
                <a16:creationId xmlns:a16="http://schemas.microsoft.com/office/drawing/2014/main" id="{D8BB1C23-501F-FAD3-F8F5-3641B1BA1AC3}"/>
              </a:ext>
            </a:extLst>
          </p:cNvPr>
          <p:cNvSpPr>
            <a:spLocks noGrp="1"/>
          </p:cNvSpPr>
          <p:nvPr>
            <p:ph type="sldNum" sz="quarter" idx="5"/>
          </p:nvPr>
        </p:nvSpPr>
        <p:spPr/>
        <p:txBody>
          <a:bodyPr/>
          <a:lstStyle/>
          <a:p>
            <a:fld id="{8D942FC2-A162-47B3-989B-571A62414964}" type="slidenum">
              <a:rPr lang="en-US" smtClean="0"/>
              <a:t>7</a:t>
            </a:fld>
            <a:endParaRPr lang="en-US" dirty="0"/>
          </a:p>
        </p:txBody>
      </p:sp>
    </p:spTree>
    <p:extLst>
      <p:ext uri="{BB962C8B-B14F-4D97-AF65-F5344CB8AC3E}">
        <p14:creationId xmlns:p14="http://schemas.microsoft.com/office/powerpoint/2010/main" val="1636486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485F-EC17-820C-2B47-6D665410D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E607A-9EA5-5268-4C76-2EE63E5193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5AB9C-928F-61D0-00FF-99A41BF0D628}"/>
              </a:ext>
            </a:extLst>
          </p:cNvPr>
          <p:cNvSpPr>
            <a:spLocks noGrp="1"/>
          </p:cNvSpPr>
          <p:nvPr>
            <p:ph type="body" idx="1"/>
          </p:nvPr>
        </p:nvSpPr>
        <p:spPr/>
        <p:txBody>
          <a:bodyPr/>
          <a:lstStyle/>
          <a:p>
            <a:r>
              <a:rPr lang="en-US" dirty="0"/>
              <a:t>Here are the results from the Structural Topic Model. The heatmap shows how each of the ten topics varies across the six truth categories. Darker colors represent higher topic prevalence within that truth label.</a:t>
            </a:r>
          </a:p>
          <a:p>
            <a:r>
              <a:rPr lang="en-US" dirty="0"/>
              <a:t>What stands out immediately is that some topics are much more common in the ‘pants-fire’ and ‘false’ categories than they are in the more accurate categories. For example, a couple of topics show noticeably higher prevalence in the lowest truthfulness levels, which suggests that misinformation tends to concentrate in certain issue areas.</a:t>
            </a:r>
          </a:p>
          <a:p>
            <a:r>
              <a:rPr lang="en-US" dirty="0"/>
              <a:t>On the other hand, some topics appear more frequently in ‘mostly true’ or ‘true’ statements, which indicates that truthful political statements focus on somewhat different themes.</a:t>
            </a:r>
          </a:p>
          <a:p>
            <a:r>
              <a:rPr lang="en-US" dirty="0"/>
              <a:t>Overall, STM provides strong evidence that misinformation is not evenly distributed. Instead, different truth levels emphasize different topics, supporting the idea that deceptive statements rely on specific themes or rhetorical frames. This directly answers my second empirical question about whether misinformation is tied to particular topics.</a:t>
            </a:r>
          </a:p>
          <a:p>
            <a:endParaRPr lang="en-US" dirty="0"/>
          </a:p>
        </p:txBody>
      </p:sp>
      <p:sp>
        <p:nvSpPr>
          <p:cNvPr id="4" name="Slide Number Placeholder 3">
            <a:extLst>
              <a:ext uri="{FF2B5EF4-FFF2-40B4-BE49-F238E27FC236}">
                <a16:creationId xmlns:a16="http://schemas.microsoft.com/office/drawing/2014/main" id="{E5475FC5-626D-A00A-999D-434A9D169EF9}"/>
              </a:ext>
            </a:extLst>
          </p:cNvPr>
          <p:cNvSpPr>
            <a:spLocks noGrp="1"/>
          </p:cNvSpPr>
          <p:nvPr>
            <p:ph type="sldNum" sz="quarter" idx="5"/>
          </p:nvPr>
        </p:nvSpPr>
        <p:spPr/>
        <p:txBody>
          <a:bodyPr/>
          <a:lstStyle/>
          <a:p>
            <a:fld id="{8D942FC2-A162-47B3-989B-571A62414964}" type="slidenum">
              <a:rPr lang="en-US" smtClean="0"/>
              <a:t>8</a:t>
            </a:fld>
            <a:endParaRPr lang="en-US" dirty="0"/>
          </a:p>
        </p:txBody>
      </p:sp>
    </p:spTree>
    <p:extLst>
      <p:ext uri="{BB962C8B-B14F-4D97-AF65-F5344CB8AC3E}">
        <p14:creationId xmlns:p14="http://schemas.microsoft.com/office/powerpoint/2010/main" val="778927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68EE2-89A4-81D4-DCC4-CA11D2607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3742F-72CE-3DF3-185B-C5A80289B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6AC74-9A38-8A68-AA21-506F463AF63B}"/>
              </a:ext>
            </a:extLst>
          </p:cNvPr>
          <p:cNvSpPr>
            <a:spLocks noGrp="1"/>
          </p:cNvSpPr>
          <p:nvPr>
            <p:ph type="body" idx="1"/>
          </p:nvPr>
        </p:nvSpPr>
        <p:spPr/>
        <p:txBody>
          <a:bodyPr/>
          <a:lstStyle/>
          <a:p>
            <a:r>
              <a:rPr lang="en-US" dirty="0"/>
              <a:t>My third technique was a supervised classification model, specifically a Naïve-Bayes classifier. Unlike topic models, which are unsupervised, this method directly tries to predict whether a political statement is misinformation or not based on linguistic features.</a:t>
            </a:r>
          </a:p>
          <a:p>
            <a:r>
              <a:rPr lang="en-US" dirty="0"/>
              <a:t>I converted the six truth labels into a binary outcome: ‘</a:t>
            </a:r>
            <a:r>
              <a:rPr lang="en-US" dirty="0" err="1"/>
              <a:t>misinfo</a:t>
            </a:r>
            <a:r>
              <a:rPr lang="en-US" dirty="0"/>
              <a:t>’ for pants-fire and false statements, and ‘</a:t>
            </a:r>
            <a:r>
              <a:rPr lang="en-US" dirty="0" err="1"/>
              <a:t>not_misinfo</a:t>
            </a:r>
            <a:r>
              <a:rPr lang="en-US" dirty="0"/>
              <a:t>’ for everything else. The classifier learned patterns from the training split of the dataset and then predicted labels on the test split.</a:t>
            </a:r>
          </a:p>
          <a:p>
            <a:r>
              <a:rPr lang="en-US" dirty="0"/>
              <a:t>This technique addresses my third empirical question: can linguistic features alone help identify misinformation? Even though political statements often use similar vocabulary regardless of accuracy, the classifier still attempts to detect subtle patterns that distinguish deceptive from truthful content.</a:t>
            </a:r>
          </a:p>
          <a:p>
            <a:r>
              <a:rPr lang="en-US" dirty="0"/>
              <a:t>The next slide shows how well the classifier performed.</a:t>
            </a:r>
          </a:p>
          <a:p>
            <a:endParaRPr lang="en-US" dirty="0"/>
          </a:p>
        </p:txBody>
      </p:sp>
      <p:sp>
        <p:nvSpPr>
          <p:cNvPr id="4" name="Slide Number Placeholder 3">
            <a:extLst>
              <a:ext uri="{FF2B5EF4-FFF2-40B4-BE49-F238E27FC236}">
                <a16:creationId xmlns:a16="http://schemas.microsoft.com/office/drawing/2014/main" id="{CE6B6812-6D37-DF22-B08F-4DAF871C396C}"/>
              </a:ext>
            </a:extLst>
          </p:cNvPr>
          <p:cNvSpPr>
            <a:spLocks noGrp="1"/>
          </p:cNvSpPr>
          <p:nvPr>
            <p:ph type="sldNum" sz="quarter" idx="5"/>
          </p:nvPr>
        </p:nvSpPr>
        <p:spPr/>
        <p:txBody>
          <a:bodyPr/>
          <a:lstStyle/>
          <a:p>
            <a:fld id="{8D942FC2-A162-47B3-989B-571A62414964}" type="slidenum">
              <a:rPr lang="en-US" smtClean="0"/>
              <a:t>9</a:t>
            </a:fld>
            <a:endParaRPr lang="en-US" dirty="0"/>
          </a:p>
        </p:txBody>
      </p:sp>
    </p:spTree>
    <p:extLst>
      <p:ext uri="{BB962C8B-B14F-4D97-AF65-F5344CB8AC3E}">
        <p14:creationId xmlns:p14="http://schemas.microsoft.com/office/powerpoint/2010/main" val="2677224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2D9DF-D0F8-A47B-76A4-AB9BB86225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627C4-B130-5DBE-90A7-2BC6F45C9E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77233-3165-1FE6-978B-175AB68FF552}"/>
              </a:ext>
            </a:extLst>
          </p:cNvPr>
          <p:cNvSpPr>
            <a:spLocks noGrp="1"/>
          </p:cNvSpPr>
          <p:nvPr>
            <p:ph type="body" idx="1"/>
          </p:nvPr>
        </p:nvSpPr>
        <p:spPr/>
        <p:txBody>
          <a:bodyPr/>
          <a:lstStyle/>
          <a:p>
            <a:r>
              <a:rPr lang="en-US" dirty="0"/>
              <a:t>Here are the results from the classification model. Using a Naive Bayes classifier, I tried to predict whether a statement was misinformation based solely on its word patterns.</a:t>
            </a:r>
          </a:p>
          <a:p>
            <a:r>
              <a:rPr lang="en-US" dirty="0"/>
              <a:t>The confusion matrix shows how well the model performed on the test data. The overall accuracy was about </a:t>
            </a:r>
            <a:r>
              <a:rPr lang="en-US" b="1" dirty="0"/>
              <a:t>57 percent</a:t>
            </a:r>
            <a:r>
              <a:rPr lang="en-US" dirty="0"/>
              <a:t>, which is above chance and indicates that linguistic features do contain some signal that helps distinguish misinformation from other statements.</a:t>
            </a:r>
          </a:p>
          <a:p>
            <a:r>
              <a:rPr lang="en-US" dirty="0"/>
              <a:t>At the same time, the accuracy is far from perfect. This makes sense because truthful and deceptive political statements often use very similar vocabulary. Misinformation isn’t always defined by the presence of certain words; sometimes the difference lies in context or factual content rather than linguistic style.</a:t>
            </a:r>
          </a:p>
          <a:p>
            <a:r>
              <a:rPr lang="en-US" dirty="0"/>
              <a:t>Still, the model’s performance tells us that there </a:t>
            </a:r>
            <a:r>
              <a:rPr lang="en-US" i="1" dirty="0"/>
              <a:t>are</a:t>
            </a:r>
            <a:r>
              <a:rPr lang="en-US" dirty="0"/>
              <a:t> subtle patterns in word usage that help separate false from accurate claims. So this technique gives partial support to my third empirical question: language alone can provide some predictive value, but it has clear limitations.</a:t>
            </a:r>
          </a:p>
          <a:p>
            <a:endParaRPr lang="en-US" dirty="0"/>
          </a:p>
        </p:txBody>
      </p:sp>
      <p:sp>
        <p:nvSpPr>
          <p:cNvPr id="4" name="Slide Number Placeholder 3">
            <a:extLst>
              <a:ext uri="{FF2B5EF4-FFF2-40B4-BE49-F238E27FC236}">
                <a16:creationId xmlns:a16="http://schemas.microsoft.com/office/drawing/2014/main" id="{FC65C96B-7E74-9FBC-4F20-476373C0D59D}"/>
              </a:ext>
            </a:extLst>
          </p:cNvPr>
          <p:cNvSpPr>
            <a:spLocks noGrp="1"/>
          </p:cNvSpPr>
          <p:nvPr>
            <p:ph type="sldNum" sz="quarter" idx="5"/>
          </p:nvPr>
        </p:nvSpPr>
        <p:spPr/>
        <p:txBody>
          <a:bodyPr/>
          <a:lstStyle/>
          <a:p>
            <a:fld id="{8D942FC2-A162-47B3-989B-571A62414964}" type="slidenum">
              <a:rPr lang="en-US" smtClean="0"/>
              <a:t>10</a:t>
            </a:fld>
            <a:endParaRPr lang="en-US" dirty="0"/>
          </a:p>
        </p:txBody>
      </p:sp>
    </p:spTree>
    <p:extLst>
      <p:ext uri="{BB962C8B-B14F-4D97-AF65-F5344CB8AC3E}">
        <p14:creationId xmlns:p14="http://schemas.microsoft.com/office/powerpoint/2010/main" val="3998396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04A2C-013A-064B-858C-085E771F4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7C8B8-3BC2-A3D8-332E-669527F3B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8F845D-1B7E-6F51-FEAF-15ECDEA7DEB4}"/>
              </a:ext>
            </a:extLst>
          </p:cNvPr>
          <p:cNvSpPr>
            <a:spLocks noGrp="1"/>
          </p:cNvSpPr>
          <p:nvPr>
            <p:ph type="body" idx="1"/>
          </p:nvPr>
        </p:nvSpPr>
        <p:spPr/>
        <p:txBody>
          <a:bodyPr/>
          <a:lstStyle/>
          <a:p>
            <a:r>
              <a:rPr lang="en-US" dirty="0"/>
              <a:t>My fourth technique was word embeddings, using a </a:t>
            </a:r>
            <a:r>
              <a:rPr lang="en-US" dirty="0" err="1"/>
              <a:t>GloVe</a:t>
            </a:r>
            <a:r>
              <a:rPr lang="en-US" dirty="0"/>
              <a:t>-style model. Instead of counting how often words appear, embeddings represent each word as a vector in a high-dimensional semantic space, based on how often it co-occurs with other words.</a:t>
            </a:r>
          </a:p>
          <a:p>
            <a:r>
              <a:rPr lang="en-US" dirty="0"/>
              <a:t>The basic idea is that words used in similar contexts will have similar vectors and will be located near each other in this space. After training the </a:t>
            </a:r>
            <a:r>
              <a:rPr lang="en-US" dirty="0" err="1"/>
              <a:t>GloVe</a:t>
            </a:r>
            <a:r>
              <a:rPr lang="en-US" dirty="0"/>
              <a:t> model on the LIAR statements, I reduced the embeddings down to two dimensions using PCA so that I could visualize the structure.</a:t>
            </a:r>
          </a:p>
          <a:p>
            <a:r>
              <a:rPr lang="en-US" dirty="0"/>
              <a:t>This technique speaks to my fourth empirical question: what does the semantic structure of political language look like? It doesn’t directly classify statements as true or false, but it shows how terms cluster into meaningful groups, such as economic language, healthcare language, or election-related language. That gives a more intuitive view of how political discourse is organized.</a:t>
            </a:r>
          </a:p>
          <a:p>
            <a:endParaRPr lang="en-US" dirty="0"/>
          </a:p>
        </p:txBody>
      </p:sp>
      <p:sp>
        <p:nvSpPr>
          <p:cNvPr id="4" name="Slide Number Placeholder 3">
            <a:extLst>
              <a:ext uri="{FF2B5EF4-FFF2-40B4-BE49-F238E27FC236}">
                <a16:creationId xmlns:a16="http://schemas.microsoft.com/office/drawing/2014/main" id="{40DFEC3A-A94E-1ABC-35EE-5575BF328ADC}"/>
              </a:ext>
            </a:extLst>
          </p:cNvPr>
          <p:cNvSpPr>
            <a:spLocks noGrp="1"/>
          </p:cNvSpPr>
          <p:nvPr>
            <p:ph type="sldNum" sz="quarter" idx="5"/>
          </p:nvPr>
        </p:nvSpPr>
        <p:spPr/>
        <p:txBody>
          <a:bodyPr/>
          <a:lstStyle/>
          <a:p>
            <a:fld id="{8D942FC2-A162-47B3-989B-571A62414964}" type="slidenum">
              <a:rPr lang="en-US" smtClean="0"/>
              <a:t>11</a:t>
            </a:fld>
            <a:endParaRPr lang="en-US" dirty="0"/>
          </a:p>
        </p:txBody>
      </p:sp>
    </p:spTree>
    <p:extLst>
      <p:ext uri="{BB962C8B-B14F-4D97-AF65-F5344CB8AC3E}">
        <p14:creationId xmlns:p14="http://schemas.microsoft.com/office/powerpoint/2010/main" val="1219558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A4536-0B47-D580-2C25-28A64B431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387624-E544-EA30-B153-99208482FA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2C613-62CB-94BB-79AA-7F567751E126}"/>
              </a:ext>
            </a:extLst>
          </p:cNvPr>
          <p:cNvSpPr>
            <a:spLocks noGrp="1"/>
          </p:cNvSpPr>
          <p:nvPr>
            <p:ph type="body" idx="1"/>
          </p:nvPr>
        </p:nvSpPr>
        <p:spPr/>
        <p:txBody>
          <a:bodyPr/>
          <a:lstStyle/>
          <a:p>
            <a:r>
              <a:rPr lang="en-US" dirty="0"/>
              <a:t>Finally, these are the results from the word embeddings. This plot shows a two-dimensional projection of the </a:t>
            </a:r>
            <a:r>
              <a:rPr lang="en-US" dirty="0" err="1"/>
              <a:t>GloVe</a:t>
            </a:r>
            <a:r>
              <a:rPr lang="en-US" dirty="0"/>
              <a:t> vectors for the most frequent terms in the dataset. Words that appear in similar contexts are located near each other in this space.</a:t>
            </a:r>
          </a:p>
          <a:p>
            <a:r>
              <a:rPr lang="en-US" dirty="0"/>
              <a:t>You can see that terms related to the same types of issues tend to cluster together. For example, economic terms group in one region, healthcare terms cluster in another, and election- or campaign-related language appears in its own neighborhood. This gives us a more intuitive picture of how political language is structured beyond simple word counts.</a:t>
            </a:r>
          </a:p>
          <a:p>
            <a:r>
              <a:rPr lang="en-US" dirty="0"/>
              <a:t>Embeddings don’t directly tell us whether a statement is true or false, but they help contextualize the other results. The topics we saw in LDA and STM are built out of these underlying semantic relationships, and the clusters here show how tightly connected many of those issue areas are in political discourse.</a:t>
            </a:r>
          </a:p>
          <a:p>
            <a:endParaRPr lang="en-US" dirty="0"/>
          </a:p>
        </p:txBody>
      </p:sp>
      <p:sp>
        <p:nvSpPr>
          <p:cNvPr id="4" name="Slide Number Placeholder 3">
            <a:extLst>
              <a:ext uri="{FF2B5EF4-FFF2-40B4-BE49-F238E27FC236}">
                <a16:creationId xmlns:a16="http://schemas.microsoft.com/office/drawing/2014/main" id="{44B32DBD-6198-7FAA-C2B2-7F1CE72160A2}"/>
              </a:ext>
            </a:extLst>
          </p:cNvPr>
          <p:cNvSpPr>
            <a:spLocks noGrp="1"/>
          </p:cNvSpPr>
          <p:nvPr>
            <p:ph type="sldNum" sz="quarter" idx="5"/>
          </p:nvPr>
        </p:nvSpPr>
        <p:spPr/>
        <p:txBody>
          <a:bodyPr/>
          <a:lstStyle/>
          <a:p>
            <a:fld id="{8D942FC2-A162-47B3-989B-571A62414964}" type="slidenum">
              <a:rPr lang="en-US" smtClean="0"/>
              <a:t>12</a:t>
            </a:fld>
            <a:endParaRPr lang="en-US" dirty="0"/>
          </a:p>
        </p:txBody>
      </p:sp>
    </p:spTree>
    <p:extLst>
      <p:ext uri="{BB962C8B-B14F-4D97-AF65-F5344CB8AC3E}">
        <p14:creationId xmlns:p14="http://schemas.microsoft.com/office/powerpoint/2010/main" val="2915580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25E47-FB6D-132A-26BD-4CA65A3AC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DB508-E665-3D9C-5A74-B8D997050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8D0AA-8E82-4B8C-8529-F91FD6532F77}"/>
              </a:ext>
            </a:extLst>
          </p:cNvPr>
          <p:cNvSpPr>
            <a:spLocks noGrp="1"/>
          </p:cNvSpPr>
          <p:nvPr>
            <p:ph type="body" idx="1"/>
          </p:nvPr>
        </p:nvSpPr>
        <p:spPr/>
        <p:txBody>
          <a:bodyPr/>
          <a:lstStyle/>
          <a:p>
            <a:r>
              <a:rPr lang="en-US" dirty="0"/>
              <a:t>To wrap up, here are the main takeaways from my project.</a:t>
            </a:r>
            <a:br>
              <a:rPr lang="en-US" dirty="0"/>
            </a:br>
            <a:r>
              <a:rPr lang="en-US" dirty="0"/>
              <a:t>First, political statements do show strong and consistent topical structure, which we saw clearly in the LDA model.</a:t>
            </a:r>
          </a:p>
          <a:p>
            <a:r>
              <a:rPr lang="en-US" dirty="0"/>
              <a:t>Second, misinformation is not randomly distributed across topics. The STM results showed that certain themes appear much more often in ‘pants-fire’ and ‘false’ claims, while other topics tend to be associated with accurate statements.</a:t>
            </a:r>
          </a:p>
          <a:p>
            <a:r>
              <a:rPr lang="en-US" dirty="0"/>
              <a:t>Third, language alone provides some predictive power for identifying misinformation, although the Naive Bayes classifier demonstrated that this distinction is subtle and far from perfect.</a:t>
            </a:r>
          </a:p>
          <a:p>
            <a:r>
              <a:rPr lang="en-US" dirty="0"/>
              <a:t>Finally, the word embeddings revealed the broader semantic organization of political language, showing which terms cluster around major issues.</a:t>
            </a:r>
          </a:p>
          <a:p>
            <a:r>
              <a:rPr lang="en-US" dirty="0"/>
              <a:t>Overall, this project showed how using multiple text analysis techniques together provides a much more complete picture than relying on just one. It also helped me gain hands-on experience with preprocessing, topic modeling, classification, and semantic modeling — skills that I can apply to similar research questions in the future.</a:t>
            </a:r>
          </a:p>
          <a:p>
            <a:endParaRPr lang="en-US" dirty="0"/>
          </a:p>
        </p:txBody>
      </p:sp>
      <p:sp>
        <p:nvSpPr>
          <p:cNvPr id="4" name="Slide Number Placeholder 3">
            <a:extLst>
              <a:ext uri="{FF2B5EF4-FFF2-40B4-BE49-F238E27FC236}">
                <a16:creationId xmlns:a16="http://schemas.microsoft.com/office/drawing/2014/main" id="{A2C01B3B-365D-5B54-93A2-F8F4CFE054B3}"/>
              </a:ext>
            </a:extLst>
          </p:cNvPr>
          <p:cNvSpPr>
            <a:spLocks noGrp="1"/>
          </p:cNvSpPr>
          <p:nvPr>
            <p:ph type="sldNum" sz="quarter" idx="5"/>
          </p:nvPr>
        </p:nvSpPr>
        <p:spPr/>
        <p:txBody>
          <a:bodyPr/>
          <a:lstStyle/>
          <a:p>
            <a:fld id="{8D942FC2-A162-47B3-989B-571A62414964}" type="slidenum">
              <a:rPr lang="en-US" smtClean="0"/>
              <a:t>13</a:t>
            </a:fld>
            <a:endParaRPr lang="en-US" dirty="0"/>
          </a:p>
        </p:txBody>
      </p:sp>
    </p:spTree>
    <p:extLst>
      <p:ext uri="{BB962C8B-B14F-4D97-AF65-F5344CB8AC3E}">
        <p14:creationId xmlns:p14="http://schemas.microsoft.com/office/powerpoint/2010/main" val="12101172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sources I used in this project. All of my methods and analytical choices came directly from our course textbook, </a:t>
            </a:r>
            <a:r>
              <a:rPr lang="en-US" i="1" dirty="0"/>
              <a:t>Mapping Texts</a:t>
            </a:r>
            <a:r>
              <a:rPr lang="en-US" dirty="0"/>
              <a:t>. The dataset for the project is the LIAR dataset, which compiles thousands of fact-checked political statements originally drawn from PolitiFact. Outside of these two sources, everything in the project reflects my own work and interpretations.</a:t>
            </a:r>
          </a:p>
        </p:txBody>
      </p:sp>
      <p:sp>
        <p:nvSpPr>
          <p:cNvPr id="4" name="Slide Number Placeholder 3"/>
          <p:cNvSpPr>
            <a:spLocks noGrp="1"/>
          </p:cNvSpPr>
          <p:nvPr>
            <p:ph type="sldNum" sz="quarter" idx="5"/>
          </p:nvPr>
        </p:nvSpPr>
        <p:spPr/>
        <p:txBody>
          <a:bodyPr/>
          <a:lstStyle/>
          <a:p>
            <a:fld id="{8D942FC2-A162-47B3-989B-571A62414964}" type="slidenum">
              <a:rPr lang="en-US" smtClean="0"/>
              <a:t>14</a:t>
            </a:fld>
            <a:endParaRPr lang="en-US" dirty="0"/>
          </a:p>
        </p:txBody>
      </p:sp>
    </p:spTree>
    <p:extLst>
      <p:ext uri="{BB962C8B-B14F-4D97-AF65-F5344CB8AC3E}">
        <p14:creationId xmlns:p14="http://schemas.microsoft.com/office/powerpoint/2010/main" val="52409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56276193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54667092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308775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62928027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79818732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1272688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7801261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14334128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9739318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86357117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410713770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hasCustomPrompt="1"/>
          </p:nvPr>
        </p:nvSpPr>
        <p:spPr>
          <a:xfrm>
            <a:off x="2197100" y="1079500"/>
            <a:ext cx="7797799" cy="2543594"/>
          </a:xfrm>
        </p:spPr>
        <p:txBody>
          <a:bodyPr anchor="b">
            <a:normAutofit/>
          </a:bodyPr>
          <a:lstStyle>
            <a:lvl1pPr algn="ctr">
              <a:defRPr sz="2800"/>
            </a:lvl1pPr>
          </a:lstStyle>
          <a:p>
            <a:r>
              <a:rPr lang="en-US" dirty="0"/>
              <a:t>Click to add title</a:t>
            </a:r>
          </a:p>
        </p:txBody>
      </p:sp>
      <p:grpSp>
        <p:nvGrpSpPr>
          <p:cNvPr id="7" name="Group 6">
            <a:extLst>
              <a:ext uri="{FF2B5EF4-FFF2-40B4-BE49-F238E27FC236}">
                <a16:creationId xmlns:a16="http://schemas.microsoft.com/office/drawing/2014/main" id="{A8224D70-2CA9-3DC4-F002-EC470A48EB82}"/>
              </a:ext>
              <a:ext uri="{C183D7F6-B498-43B3-948B-1728B52AA6E4}">
                <adec:decorative xmlns:adec="http://schemas.microsoft.com/office/drawing/2017/decorative" val="1"/>
              </a:ext>
            </a:extLst>
          </p:cNvPr>
          <p:cNvGrpSpPr/>
          <p:nvPr userDrawn="1"/>
        </p:nvGrpSpPr>
        <p:grpSpPr>
          <a:xfrm>
            <a:off x="9728046" y="4869342"/>
            <a:ext cx="1623711" cy="630920"/>
            <a:chOff x="9588346" y="4824892"/>
            <a:chExt cx="1623711" cy="630920"/>
          </a:xfrm>
        </p:grpSpPr>
        <p:sp>
          <p:nvSpPr>
            <p:cNvPr id="8" name="Freeform: Shape 15">
              <a:extLst>
                <a:ext uri="{FF2B5EF4-FFF2-40B4-BE49-F238E27FC236}">
                  <a16:creationId xmlns:a16="http://schemas.microsoft.com/office/drawing/2014/main" id="{C0B1F33F-4201-2B4E-E8EC-1D07263083EB}"/>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2ED5B178-0506-30BE-93BB-73C02006B988}"/>
                </a:ext>
              </a:extLst>
            </p:cNvPr>
            <p:cNvGrpSpPr/>
            <p:nvPr/>
          </p:nvGrpSpPr>
          <p:grpSpPr>
            <a:xfrm rot="2700000" flipH="1">
              <a:off x="10112436" y="4359902"/>
              <a:ext cx="571820" cy="1620000"/>
              <a:chOff x="8482785" y="4330454"/>
              <a:chExt cx="571820" cy="1620000"/>
            </a:xfrm>
          </p:grpSpPr>
          <p:sp>
            <p:nvSpPr>
              <p:cNvPr id="10" name="Freeform: Shape 17">
                <a:extLst>
                  <a:ext uri="{FF2B5EF4-FFF2-40B4-BE49-F238E27FC236}">
                    <a16:creationId xmlns:a16="http://schemas.microsoft.com/office/drawing/2014/main" id="{B3F854F0-E9B7-2C32-CA3C-FA9719440768}"/>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 name="Straight Connector 10">
                <a:extLst>
                  <a:ext uri="{FF2B5EF4-FFF2-40B4-BE49-F238E27FC236}">
                    <a16:creationId xmlns:a16="http://schemas.microsoft.com/office/drawing/2014/main" id="{E8224CDA-DD93-0DF6-7DD9-8328D1606037}"/>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 name="Straight Connector 11">
            <a:extLst>
              <a:ext uri="{FF2B5EF4-FFF2-40B4-BE49-F238E27FC236}">
                <a16:creationId xmlns:a16="http://schemas.microsoft.com/office/drawing/2014/main" id="{A3FA5F65-B2C5-BB65-83E3-F195EEE49001}"/>
              </a:ext>
              <a:ext uri="{C183D7F6-B498-43B3-948B-1728B52AA6E4}">
                <adec:decorative xmlns:adec="http://schemas.microsoft.com/office/drawing/2017/decorative" val="1"/>
              </a:ext>
            </a:extLst>
          </p:cNvPr>
          <p:cNvCxnSpPr>
            <a:cxnSpLocks/>
          </p:cNvCxnSpPr>
          <p:nvPr userDrawn="1"/>
        </p:nvCxnSpPr>
        <p:spPr>
          <a:xfrm>
            <a:off x="5826000" y="409908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8725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1066800" y="777246"/>
            <a:ext cx="10058400" cy="1097280"/>
          </a:xfrm>
        </p:spPr>
        <p:txBody>
          <a:bodyPr wrap="square" anchor="ctr" anchorCtr="0">
            <a:normAutofit/>
          </a:bodyPr>
          <a:lstStyle>
            <a:lvl1pPr algn="ctr">
              <a:defRPr/>
            </a:lvl1pPr>
          </a:lstStyle>
          <a:p>
            <a:pPr algn="ctr"/>
            <a:r>
              <a:rPr lang="en-US" dirty="0"/>
              <a:t>Click to add title</a:t>
            </a:r>
          </a:p>
        </p:txBody>
      </p:sp>
      <p:sp>
        <p:nvSpPr>
          <p:cNvPr id="5" name="Content Placeholder 3">
            <a:extLst>
              <a:ext uri="{FF2B5EF4-FFF2-40B4-BE49-F238E27FC236}">
                <a16:creationId xmlns:a16="http://schemas.microsoft.com/office/drawing/2014/main" id="{F2B970E0-2BF6-DE0A-33F2-E136830CC0F2}"/>
              </a:ext>
            </a:extLst>
          </p:cNvPr>
          <p:cNvSpPr>
            <a:spLocks noGrp="1"/>
          </p:cNvSpPr>
          <p:nvPr>
            <p:ph sz="quarter" idx="17" hasCustomPrompt="1"/>
          </p:nvPr>
        </p:nvSpPr>
        <p:spPr>
          <a:xfrm>
            <a:off x="1711243" y="2287435"/>
            <a:ext cx="8769514" cy="3768195"/>
          </a:xfrm>
        </p:spPr>
        <p:txBody>
          <a:bodyPr tIns="182880">
            <a:noAutofit/>
          </a:bodyPr>
          <a:lstStyle>
            <a:lvl1pPr marL="283464" indent="-283464">
              <a:lnSpc>
                <a:spcPct val="100000"/>
              </a:lnSpc>
              <a:spcBef>
                <a:spcPts val="1000"/>
              </a:spcBef>
              <a:defRPr sz="1800"/>
            </a:lvl1pPr>
            <a:lvl2pPr marL="283464">
              <a:lnSpc>
                <a:spcPct val="100000"/>
              </a:lnSpc>
              <a:spcBef>
                <a:spcPts val="1000"/>
              </a:spcBef>
              <a:defRPr sz="1800"/>
            </a:lvl2pPr>
            <a:lvl3pPr indent="-283464">
              <a:lnSpc>
                <a:spcPct val="100000"/>
              </a:lnSpc>
              <a:spcBef>
                <a:spcPts val="1000"/>
              </a:spcBef>
              <a:defRPr sz="1800"/>
            </a:lvl3pPr>
            <a:lvl4pPr>
              <a:lnSpc>
                <a:spcPct val="100000"/>
              </a:lnSpc>
              <a:spcBef>
                <a:spcPts val="1000"/>
              </a:spcBef>
              <a:defRPr sz="1800"/>
            </a:lvl4pPr>
            <a:lvl5pPr indent="-283464">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20574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6" name="Rectangle 5">
            <a:extLst>
              <a:ext uri="{FF2B5EF4-FFF2-40B4-BE49-F238E27FC236}">
                <a16:creationId xmlns:a16="http://schemas.microsoft.com/office/drawing/2014/main" id="{2B2C7C83-D77B-1EFF-5877-DB5DF792E80B}"/>
              </a:ext>
              <a:ext uri="{C183D7F6-B498-43B3-948B-1728B52AA6E4}">
                <adec:decorative xmlns:adec="http://schemas.microsoft.com/office/drawing/2017/decorative" val="1"/>
              </a:ext>
            </a:extLst>
          </p:cNvPr>
          <p:cNvSpPr/>
          <p:nvPr userDrawn="1"/>
        </p:nvSpPr>
        <p:spPr>
          <a:xfrm>
            <a:off x="541163" y="548640"/>
            <a:ext cx="11109674" cy="574929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39279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EF848A-75B5-49A0-A26E-E3931F22D975}"/>
              </a:ext>
            </a:extLst>
          </p:cNvPr>
          <p:cNvSpPr>
            <a:spLocks noGrp="1"/>
          </p:cNvSpPr>
          <p:nvPr>
            <p:ph type="ctrTitle" hasCustomPrompt="1"/>
          </p:nvPr>
        </p:nvSpPr>
        <p:spPr>
          <a:xfrm>
            <a:off x="3870326" y="539751"/>
            <a:ext cx="4451349" cy="2082226"/>
          </a:xfrm>
        </p:spPr>
        <p:txBody>
          <a:bodyPr anchor="b"/>
          <a:lstStyle>
            <a:lvl1pPr algn="ctr">
              <a:defRPr/>
            </a:lvl1pPr>
          </a:lstStyle>
          <a:p>
            <a:r>
              <a:rPr lang="en-US" dirty="0"/>
              <a:t>Click to add title</a:t>
            </a:r>
          </a:p>
        </p:txBody>
      </p:sp>
      <p:sp>
        <p:nvSpPr>
          <p:cNvPr id="8" name="Subtitle 7">
            <a:extLst>
              <a:ext uri="{FF2B5EF4-FFF2-40B4-BE49-F238E27FC236}">
                <a16:creationId xmlns:a16="http://schemas.microsoft.com/office/drawing/2014/main" id="{0D20A319-635D-423F-BBAC-55CDC1785605}"/>
              </a:ext>
            </a:extLst>
          </p:cNvPr>
          <p:cNvSpPr>
            <a:spLocks noGrp="1"/>
          </p:cNvSpPr>
          <p:nvPr>
            <p:ph type="subTitle" idx="1" hasCustomPrompt="1"/>
          </p:nvPr>
        </p:nvSpPr>
        <p:spPr>
          <a:xfrm>
            <a:off x="3870326" y="4248000"/>
            <a:ext cx="4451349" cy="2082226"/>
          </a:xfrm>
        </p:spPr>
        <p:txBody>
          <a:bodyPr>
            <a:normAutofit/>
          </a:bodyPr>
          <a:lstStyle>
            <a:lvl1pPr marL="0" indent="0" algn="ctr">
              <a:buNone/>
              <a:defRPr sz="1800" i="1"/>
            </a:lvl1pPr>
          </a:lstStyle>
          <a:p>
            <a:r>
              <a:rPr lang="en-US" dirty="0"/>
              <a:t>Click to add subtitle</a:t>
            </a:r>
          </a:p>
        </p:txBody>
      </p:sp>
      <p:grpSp>
        <p:nvGrpSpPr>
          <p:cNvPr id="24" name="Group 23">
            <a:extLst>
              <a:ext uri="{FF2B5EF4-FFF2-40B4-BE49-F238E27FC236}">
                <a16:creationId xmlns:a16="http://schemas.microsoft.com/office/drawing/2014/main" id="{31AFB269-EE5A-41D3-BCD6-D9F59CE699B7}"/>
              </a:ext>
              <a:ext uri="{C183D7F6-B498-43B3-948B-1728B52AA6E4}">
                <adec:decorative xmlns:adec="http://schemas.microsoft.com/office/drawing/2017/decorative" val="1"/>
              </a:ext>
            </a:extLst>
          </p:cNvPr>
          <p:cNvGrpSpPr/>
          <p:nvPr userDrawn="1"/>
        </p:nvGrpSpPr>
        <p:grpSpPr>
          <a:xfrm>
            <a:off x="5354952" y="3043393"/>
            <a:ext cx="1481845" cy="787628"/>
            <a:chOff x="4987925" y="2840038"/>
            <a:chExt cx="2216150" cy="1177924"/>
          </a:xfrm>
        </p:grpSpPr>
        <p:sp>
          <p:nvSpPr>
            <p:cNvPr id="28" name="Rectangle 27">
              <a:extLst>
                <a:ext uri="{FF2B5EF4-FFF2-40B4-BE49-F238E27FC236}">
                  <a16:creationId xmlns:a16="http://schemas.microsoft.com/office/drawing/2014/main" id="{45469245-EBD6-4BF4-B555-140F59F51604}"/>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9" name="Rectangle 28">
              <a:extLst>
                <a:ext uri="{FF2B5EF4-FFF2-40B4-BE49-F238E27FC236}">
                  <a16:creationId xmlns:a16="http://schemas.microsoft.com/office/drawing/2014/main" id="{469BCC58-7D38-43ED-B78C-2D780660AA2B}"/>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0" name="Rectangle 29">
              <a:extLst>
                <a:ext uri="{FF2B5EF4-FFF2-40B4-BE49-F238E27FC236}">
                  <a16:creationId xmlns:a16="http://schemas.microsoft.com/office/drawing/2014/main" id="{0A8F2EBB-150B-4044-A215-E7B7EAD7429A}"/>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33" name="Group 32">
              <a:extLst>
                <a:ext uri="{FF2B5EF4-FFF2-40B4-BE49-F238E27FC236}">
                  <a16:creationId xmlns:a16="http://schemas.microsoft.com/office/drawing/2014/main" id="{E3CC0AD8-7413-4C81-9A62-702945CC3BE8}"/>
                </a:ext>
              </a:extLst>
            </p:cNvPr>
            <p:cNvGrpSpPr/>
            <p:nvPr/>
          </p:nvGrpSpPr>
          <p:grpSpPr>
            <a:xfrm>
              <a:off x="5614944" y="3117662"/>
              <a:ext cx="1009280" cy="464739"/>
              <a:chOff x="4432859" y="3200647"/>
              <a:chExt cx="1009280" cy="464739"/>
            </a:xfrm>
          </p:grpSpPr>
          <p:sp>
            <p:nvSpPr>
              <p:cNvPr id="41" name="Freeform: Shape 40">
                <a:extLst>
                  <a:ext uri="{FF2B5EF4-FFF2-40B4-BE49-F238E27FC236}">
                    <a16:creationId xmlns:a16="http://schemas.microsoft.com/office/drawing/2014/main" id="{2502799B-0C00-4D54-A631-1E79EAA52AFC}"/>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42" name="Freeform: Shape 41">
                <a:extLst>
                  <a:ext uri="{FF2B5EF4-FFF2-40B4-BE49-F238E27FC236}">
                    <a16:creationId xmlns:a16="http://schemas.microsoft.com/office/drawing/2014/main" id="{64E9F509-6627-4770-8A74-970F83C54B15}"/>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34" name="Group 33">
              <a:extLst>
                <a:ext uri="{FF2B5EF4-FFF2-40B4-BE49-F238E27FC236}">
                  <a16:creationId xmlns:a16="http://schemas.microsoft.com/office/drawing/2014/main" id="{5C187A2A-8F72-40F1-B320-D3B624B54859}"/>
                </a:ext>
              </a:extLst>
            </p:cNvPr>
            <p:cNvGrpSpPr/>
            <p:nvPr/>
          </p:nvGrpSpPr>
          <p:grpSpPr>
            <a:xfrm>
              <a:off x="5679979" y="2915338"/>
              <a:ext cx="1080000" cy="1080000"/>
              <a:chOff x="4497894" y="2998323"/>
              <a:chExt cx="1080000" cy="1080000"/>
            </a:xfrm>
          </p:grpSpPr>
          <p:grpSp>
            <p:nvGrpSpPr>
              <p:cNvPr id="35" name="Group 34">
                <a:extLst>
                  <a:ext uri="{FF2B5EF4-FFF2-40B4-BE49-F238E27FC236}">
                    <a16:creationId xmlns:a16="http://schemas.microsoft.com/office/drawing/2014/main" id="{038DCBEB-9435-4A10-828C-CBFA74A08708}"/>
                  </a:ext>
                </a:extLst>
              </p:cNvPr>
              <p:cNvGrpSpPr/>
              <p:nvPr/>
            </p:nvGrpSpPr>
            <p:grpSpPr>
              <a:xfrm rot="13500000">
                <a:off x="4805524" y="2998323"/>
                <a:ext cx="464739" cy="1080000"/>
                <a:chOff x="4511184" y="2470620"/>
                <a:chExt cx="464739" cy="1080000"/>
              </a:xfrm>
            </p:grpSpPr>
            <p:sp>
              <p:nvSpPr>
                <p:cNvPr id="39" name="Freeform: Shape 38">
                  <a:extLst>
                    <a:ext uri="{FF2B5EF4-FFF2-40B4-BE49-F238E27FC236}">
                      <a16:creationId xmlns:a16="http://schemas.microsoft.com/office/drawing/2014/main" id="{A8CE8E01-DABF-4783-A397-EDB1A91E2950}"/>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40" name="Straight Connector 39">
                  <a:extLst>
                    <a:ext uri="{FF2B5EF4-FFF2-40B4-BE49-F238E27FC236}">
                      <a16:creationId xmlns:a16="http://schemas.microsoft.com/office/drawing/2014/main" id="{6401896A-2EF5-4843-9DC5-ECC0D6F6A7F2}"/>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FB7C02DC-3E0A-45D2-859A-86EB5A3CF979}"/>
                  </a:ext>
                </a:extLst>
              </p:cNvPr>
              <p:cNvGrpSpPr/>
              <p:nvPr/>
            </p:nvGrpSpPr>
            <p:grpSpPr>
              <a:xfrm rot="8100000" flipH="1">
                <a:off x="4542572" y="2998323"/>
                <a:ext cx="464739" cy="1080000"/>
                <a:chOff x="4511184" y="2470620"/>
                <a:chExt cx="464739" cy="1080000"/>
              </a:xfrm>
            </p:grpSpPr>
            <p:sp>
              <p:nvSpPr>
                <p:cNvPr id="37" name="Freeform: Shape 36">
                  <a:extLst>
                    <a:ext uri="{FF2B5EF4-FFF2-40B4-BE49-F238E27FC236}">
                      <a16:creationId xmlns:a16="http://schemas.microsoft.com/office/drawing/2014/main" id="{C5170D8C-ECD3-41D1-83F4-8C2A4AEC277D}"/>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8" name="Straight Connector 37">
                  <a:extLst>
                    <a:ext uri="{FF2B5EF4-FFF2-40B4-BE49-F238E27FC236}">
                      <a16:creationId xmlns:a16="http://schemas.microsoft.com/office/drawing/2014/main" id="{BADB4C03-0F86-4580-B0C9-48DD4B3B67FF}"/>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125304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488841541"/>
      </p:ext>
    </p:extLst>
  </p:cSld>
  <p:clrMap bg1="dk1" tx1="lt1" bg2="dk2" tx2="lt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9" r:id="rId13"/>
    <p:sldLayoutId id="2147483726" r:id="rId14"/>
  </p:sldLayoutIdLst>
  <p:hf sldNum="0" hdr="0" ftr="0" dt="0"/>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19">
          <p15:clr>
            <a:srgbClr val="5ACBF0"/>
          </p15:clr>
        </p15:guide>
        <p15:guide id="2" pos="1731">
          <p15:clr>
            <a:srgbClr val="5ACBF0"/>
          </p15:clr>
        </p15:guide>
        <p15:guide id="3" pos="3140">
          <p15:clr>
            <a:srgbClr val="5ACBF0"/>
          </p15:clr>
        </p15:guide>
        <p15:guide id="4" pos="3488">
          <p15:clr>
            <a:srgbClr val="5ACBF0"/>
          </p15:clr>
        </p15:guide>
        <p15:guide id="5" pos="2788">
          <p15:clr>
            <a:srgbClr val="5ACBF0"/>
          </p15:clr>
        </p15:guide>
        <p15:guide id="6" pos="2434">
          <p15:clr>
            <a:srgbClr val="5ACBF0"/>
          </p15:clr>
        </p15:guide>
        <p15:guide id="7" pos="2084">
          <p15:clr>
            <a:srgbClr val="5ACBF0"/>
          </p15:clr>
        </p15:guide>
        <p15:guide id="8" pos="341">
          <p15:clr>
            <a:srgbClr val="F26B43"/>
          </p15:clr>
        </p15:guide>
        <p15:guide id="9" pos="1384">
          <p15:clr>
            <a:srgbClr val="5ACBF0"/>
          </p15:clr>
        </p15:guide>
        <p15:guide id="10" pos="1032">
          <p15:clr>
            <a:srgbClr val="5ACBF0"/>
          </p15:clr>
        </p15:guide>
        <p15:guide id="11" pos="680">
          <p15:clr>
            <a:srgbClr val="FDE53C"/>
          </p15:clr>
        </p15:guide>
        <p15:guide id="12" pos="4192">
          <p15:clr>
            <a:srgbClr val="5ACBF0"/>
          </p15:clr>
        </p15:guide>
        <p15:guide id="13" pos="4543">
          <p15:clr>
            <a:srgbClr val="5ACBF0"/>
          </p15:clr>
        </p15:guide>
        <p15:guide id="14" pos="4892">
          <p15:clr>
            <a:srgbClr val="5ACBF0"/>
          </p15:clr>
        </p15:guide>
        <p15:guide id="15" pos="5244">
          <p15:clr>
            <a:srgbClr val="5ACBF0"/>
          </p15:clr>
        </p15:guide>
        <p15:guide id="16" pos="5596">
          <p15:clr>
            <a:srgbClr val="5ACBF0"/>
          </p15:clr>
        </p15:guide>
        <p15:guide id="17" pos="5948">
          <p15:clr>
            <a:srgbClr val="5ACBF0"/>
          </p15:clr>
        </p15:guide>
        <p15:guide id="18" pos="6296">
          <p15:clr>
            <a:srgbClr val="5ACBF0"/>
          </p15:clr>
        </p15:guide>
        <p15:guide id="19" pos="6648">
          <p15:clr>
            <a:srgbClr val="5ACBF0"/>
          </p15:clr>
        </p15:guide>
        <p15:guide id="20" pos="6996">
          <p15:clr>
            <a:srgbClr val="FDE53C"/>
          </p15:clr>
        </p15:guide>
        <p15:guide id="21" orient="horz" pos="335">
          <p15:clr>
            <a:srgbClr val="F26B43"/>
          </p15:clr>
        </p15:guide>
        <p15:guide id="22" orient="horz" pos="680">
          <p15:clr>
            <a:srgbClr val="FDE53C"/>
          </p15:clr>
        </p15:guide>
        <p15:guide id="23" orient="horz" pos="1050">
          <p15:clr>
            <a:srgbClr val="5ACBF0"/>
          </p15:clr>
        </p15:guide>
        <p15:guide id="24" orient="horz" pos="1791">
          <p15:clr>
            <a:srgbClr val="5ACBF0"/>
          </p15:clr>
        </p15:guide>
        <p15:guide id="26" orient="horz" pos="2530">
          <p15:clr>
            <a:srgbClr val="5ACBF0"/>
          </p15:clr>
        </p15:guide>
        <p15:guide id="27" orient="horz" pos="2899">
          <p15:clr>
            <a:srgbClr val="5ACBF0"/>
          </p15:clr>
        </p15:guide>
        <p15:guide id="28" orient="horz" pos="3268">
          <p15:clr>
            <a:srgbClr val="5ACBF0"/>
          </p15:clr>
        </p15:guide>
        <p15:guide id="29" orient="horz" pos="3634">
          <p15:clr>
            <a:srgbClr val="FDE53C"/>
          </p15:clr>
        </p15:guide>
        <p15:guide id="30" orient="horz" pos="3979">
          <p15:clr>
            <a:srgbClr val="F26B43"/>
          </p15:clr>
        </p15:guide>
        <p15:guide id="31" orient="horz" pos="2160">
          <p15:clr>
            <a:srgbClr val="FDE53C"/>
          </p15:clr>
        </p15:guide>
        <p15:guide id="32" pos="7340">
          <p15:clr>
            <a:srgbClr val="F26B43"/>
          </p15:clr>
        </p15:guide>
        <p15:guide id="33" pos="3840">
          <p15:clr>
            <a:srgbClr val="FDE53C"/>
          </p15:clr>
        </p15:guide>
        <p15:guide id="34" orient="horz" pos="637">
          <p15:clr>
            <a:srgbClr val="C35EA4"/>
          </p15:clr>
        </p15:guide>
        <p15:guide id="35" orient="horz" pos="1128">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hyperlink" Target="https://culturalcartography.gitlab.io/" TargetMode="External"/><Relationship Id="rId2" Type="http://schemas.openxmlformats.org/officeDocument/2006/relationships/notesSlide" Target="../notesSlides/notesSlide14.xml"/><Relationship Id="rId1" Type="http://schemas.openxmlformats.org/officeDocument/2006/relationships/slideLayout" Target="../slideLayouts/slideLayout14.xml"/><Relationship Id="rId5" Type="http://schemas.openxmlformats.org/officeDocument/2006/relationships/image" Target="../media/image21.sv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381C4-F52E-F586-1465-77001CB91EEC}"/>
              </a:ext>
            </a:extLst>
          </p:cNvPr>
          <p:cNvSpPr>
            <a:spLocks noGrp="1"/>
          </p:cNvSpPr>
          <p:nvPr>
            <p:ph type="ctrTitle"/>
          </p:nvPr>
        </p:nvSpPr>
        <p:spPr>
          <a:xfrm>
            <a:off x="2197098" y="1069875"/>
            <a:ext cx="7797799" cy="2543594"/>
          </a:xfrm>
        </p:spPr>
        <p:txBody>
          <a:bodyPr/>
          <a:lstStyle/>
          <a:p>
            <a:r>
              <a:rPr lang="en-US" b="1" dirty="0"/>
              <a:t>Linguistic and Topical Patterns in Political Misinformation</a:t>
            </a:r>
            <a:br>
              <a:rPr lang="en-US" dirty="0"/>
            </a:br>
            <a:br>
              <a:rPr lang="en-US" dirty="0"/>
            </a:br>
            <a:r>
              <a:rPr lang="en-US" sz="1800" i="1" dirty="0">
                <a:solidFill>
                  <a:schemeClr val="tx2"/>
                </a:solidFill>
              </a:rPr>
              <a:t>A Text Analysis of the LIAR Dataset</a:t>
            </a:r>
            <a:endParaRPr lang="en-US" i="1" dirty="0">
              <a:solidFill>
                <a:schemeClr val="tx2"/>
              </a:solidFill>
            </a:endParaRPr>
          </a:p>
        </p:txBody>
      </p:sp>
      <p:sp>
        <p:nvSpPr>
          <p:cNvPr id="4" name="TextBox 3">
            <a:extLst>
              <a:ext uri="{FF2B5EF4-FFF2-40B4-BE49-F238E27FC236}">
                <a16:creationId xmlns:a16="http://schemas.microsoft.com/office/drawing/2014/main" id="{05913EE1-C98C-C185-4EAA-7793865B6B82}"/>
              </a:ext>
            </a:extLst>
          </p:cNvPr>
          <p:cNvSpPr txBox="1"/>
          <p:nvPr/>
        </p:nvSpPr>
        <p:spPr>
          <a:xfrm>
            <a:off x="4514270" y="4257963"/>
            <a:ext cx="3163457" cy="523220"/>
          </a:xfrm>
          <a:prstGeom prst="rect">
            <a:avLst/>
          </a:prstGeom>
          <a:noFill/>
        </p:spPr>
        <p:txBody>
          <a:bodyPr wrap="square" rtlCol="0">
            <a:spAutoFit/>
          </a:bodyPr>
          <a:lstStyle/>
          <a:p>
            <a:pPr algn="ctr"/>
            <a:r>
              <a:rPr lang="en-US" sz="1400" i="1" cap="all" spc="400" dirty="0">
                <a:latin typeface="+mj-lt"/>
                <a:ea typeface="+mj-ea"/>
                <a:cs typeface="+mj-cs"/>
              </a:rPr>
              <a:t>Cruz Lawrence-Mayes</a:t>
            </a:r>
          </a:p>
          <a:p>
            <a:pPr algn="ctr"/>
            <a:r>
              <a:rPr lang="en-US" sz="1400" i="1" cap="all" spc="400" dirty="0">
                <a:latin typeface="+mj-lt"/>
                <a:ea typeface="+mj-ea"/>
                <a:cs typeface="+mj-cs"/>
              </a:rPr>
              <a:t>SOCI 5155 –Fall 2025</a:t>
            </a:r>
          </a:p>
        </p:txBody>
      </p:sp>
      <p:pic>
        <p:nvPicPr>
          <p:cNvPr id="6" name="Picture 5" descr="A cartoon of a puppet&#10;&#10;AI-generated content may be incorrect.">
            <a:extLst>
              <a:ext uri="{FF2B5EF4-FFF2-40B4-BE49-F238E27FC236}">
                <a16:creationId xmlns:a16="http://schemas.microsoft.com/office/drawing/2014/main" id="{6B499873-4703-C0F8-878D-B6610D5924DE}"/>
              </a:ext>
            </a:extLst>
          </p:cNvPr>
          <p:cNvPicPr>
            <a:picLocks noChangeAspect="1"/>
          </p:cNvPicPr>
          <p:nvPr/>
        </p:nvPicPr>
        <p:blipFill>
          <a:blip r:embed="rId3"/>
          <a:stretch>
            <a:fillRect/>
          </a:stretch>
        </p:blipFill>
        <p:spPr>
          <a:xfrm>
            <a:off x="8829963" y="3687360"/>
            <a:ext cx="2885910" cy="2928389"/>
          </a:xfrm>
          <a:prstGeom prst="rect">
            <a:avLst/>
          </a:prstGeom>
        </p:spPr>
      </p:pic>
      <p:pic>
        <p:nvPicPr>
          <p:cNvPr id="10" name="Picture 9" descr="A person looking at a magnifying glass&#10;&#10;AI-generated content may be incorrect.">
            <a:extLst>
              <a:ext uri="{FF2B5EF4-FFF2-40B4-BE49-F238E27FC236}">
                <a16:creationId xmlns:a16="http://schemas.microsoft.com/office/drawing/2014/main" id="{56E0BA7D-22FC-E099-F0B0-35143B904188}"/>
              </a:ext>
            </a:extLst>
          </p:cNvPr>
          <p:cNvPicPr>
            <a:picLocks noChangeAspect="1"/>
          </p:cNvPicPr>
          <p:nvPr/>
        </p:nvPicPr>
        <p:blipFill>
          <a:blip r:embed="rId4"/>
          <a:stretch>
            <a:fillRect/>
          </a:stretch>
        </p:blipFill>
        <p:spPr>
          <a:xfrm>
            <a:off x="5407057" y="4907770"/>
            <a:ext cx="1377879" cy="1319776"/>
          </a:xfrm>
          <a:prstGeom prst="rect">
            <a:avLst/>
          </a:prstGeom>
        </p:spPr>
      </p:pic>
      <p:pic>
        <p:nvPicPr>
          <p:cNvPr id="12" name="Picture 11" descr="A set of white text&#10;&#10;AI-generated content may be incorrect.">
            <a:extLst>
              <a:ext uri="{FF2B5EF4-FFF2-40B4-BE49-F238E27FC236}">
                <a16:creationId xmlns:a16="http://schemas.microsoft.com/office/drawing/2014/main" id="{AA935732-6FA1-9FD6-3323-5BDF7F681D25}"/>
              </a:ext>
            </a:extLst>
          </p:cNvPr>
          <p:cNvPicPr>
            <a:picLocks noChangeAspect="1"/>
          </p:cNvPicPr>
          <p:nvPr/>
        </p:nvPicPr>
        <p:blipFill>
          <a:blip r:embed="rId5"/>
          <a:stretch>
            <a:fillRect/>
          </a:stretch>
        </p:blipFill>
        <p:spPr>
          <a:xfrm>
            <a:off x="815780" y="3778697"/>
            <a:ext cx="2575340" cy="2837052"/>
          </a:xfrm>
          <a:prstGeom prst="rect">
            <a:avLst/>
          </a:prstGeom>
        </p:spPr>
      </p:pic>
    </p:spTree>
    <p:extLst>
      <p:ext uri="{BB962C8B-B14F-4D97-AF65-F5344CB8AC3E}">
        <p14:creationId xmlns:p14="http://schemas.microsoft.com/office/powerpoint/2010/main" val="2420619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89858B1-D5C8-BCAC-910D-0EF4B948BAB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6F02044-45F1-8A18-7533-72A536DDDC15}"/>
              </a:ext>
            </a:extLst>
          </p:cNvPr>
          <p:cNvSpPr>
            <a:spLocks noGrp="1"/>
          </p:cNvSpPr>
          <p:nvPr>
            <p:ph type="title"/>
          </p:nvPr>
        </p:nvSpPr>
        <p:spPr>
          <a:xfrm>
            <a:off x="541338" y="1079500"/>
            <a:ext cx="3322637" cy="4689475"/>
          </a:xfrm>
        </p:spPr>
        <p:txBody>
          <a:bodyPr vert="horz" lIns="0" tIns="0" rIns="0" bIns="0" rtlCol="0" anchor="ctr" anchorCtr="0">
            <a:normAutofit/>
          </a:bodyPr>
          <a:lstStyle/>
          <a:p>
            <a:r>
              <a:rPr lang="en-US" dirty="0"/>
              <a:t>Empirical Questions</a:t>
            </a:r>
          </a:p>
        </p:txBody>
      </p:sp>
      <p:sp>
        <p:nvSpPr>
          <p:cNvPr id="13" name="Rectangle 12">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Content Placeholder 4">
            <a:extLst>
              <a:ext uri="{FF2B5EF4-FFF2-40B4-BE49-F238E27FC236}">
                <a16:creationId xmlns:a16="http://schemas.microsoft.com/office/drawing/2014/main" id="{7279A21F-D9DF-DFA3-D6EE-6E81AFF14C02}"/>
              </a:ext>
            </a:extLst>
          </p:cNvPr>
          <p:cNvGraphicFramePr>
            <a:graphicFrameLocks noGrp="1"/>
          </p:cNvGraphicFramePr>
          <p:nvPr>
            <p:ph sz="quarter" idx="17"/>
            <p:extLst>
              <p:ext uri="{D42A27DB-BD31-4B8C-83A1-F6EECF244321}">
                <p14:modId xmlns:p14="http://schemas.microsoft.com/office/powerpoint/2010/main" val="1634095551"/>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0997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6A5661-2CFE-478C-BAC3-729F393F3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C53BE6CC-8C1E-6B1C-8AA5-3F3426DFC1DB}"/>
              </a:ext>
            </a:extLst>
          </p:cNvPr>
          <p:cNvSpPr>
            <a:spLocks noGrp="1"/>
          </p:cNvSpPr>
          <p:nvPr>
            <p:ph type="title"/>
          </p:nvPr>
        </p:nvSpPr>
        <p:spPr>
          <a:xfrm>
            <a:off x="1080000" y="2252663"/>
            <a:ext cx="4457200" cy="2349500"/>
          </a:xfrm>
        </p:spPr>
        <p:txBody>
          <a:bodyPr vert="horz" lIns="0" tIns="0" rIns="0" bIns="0" rtlCol="0" anchor="ctr" anchorCtr="0">
            <a:normAutofit/>
          </a:bodyPr>
          <a:lstStyle/>
          <a:p>
            <a:r>
              <a:rPr lang="en-US" dirty="0"/>
              <a:t>Dataset: LIAR</a:t>
            </a:r>
          </a:p>
        </p:txBody>
      </p:sp>
      <p:grpSp>
        <p:nvGrpSpPr>
          <p:cNvPr id="12" name="Group 11">
            <a:extLst>
              <a:ext uri="{FF2B5EF4-FFF2-40B4-BE49-F238E27FC236}">
                <a16:creationId xmlns:a16="http://schemas.microsoft.com/office/drawing/2014/main" id="{FB7BE8CD-E348-464A-82CC-7EF7AA8284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9771" y="649304"/>
            <a:ext cx="913428" cy="1315264"/>
            <a:chOff x="999771" y="649304"/>
            <a:chExt cx="913428" cy="1315264"/>
          </a:xfrm>
        </p:grpSpPr>
        <p:grpSp>
          <p:nvGrpSpPr>
            <p:cNvPr id="26" name="Group 25">
              <a:extLst>
                <a:ext uri="{FF2B5EF4-FFF2-40B4-BE49-F238E27FC236}">
                  <a16:creationId xmlns:a16="http://schemas.microsoft.com/office/drawing/2014/main" id="{B8CC82D2-4C4A-4C67-8483-5199F97B37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999771" y="932104"/>
              <a:ext cx="913428" cy="1032464"/>
              <a:chOff x="999771" y="932104"/>
              <a:chExt cx="913428" cy="1032464"/>
            </a:xfrm>
          </p:grpSpPr>
          <p:grpSp>
            <p:nvGrpSpPr>
              <p:cNvPr id="17" name="Group 16">
                <a:extLst>
                  <a:ext uri="{FF2B5EF4-FFF2-40B4-BE49-F238E27FC236}">
                    <a16:creationId xmlns:a16="http://schemas.microsoft.com/office/drawing/2014/main" id="{70D2391D-AA33-4F5E-BD96-B42D93DED2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24" name="Freeform: Shape 23">
                  <a:extLst>
                    <a:ext uri="{FF2B5EF4-FFF2-40B4-BE49-F238E27FC236}">
                      <a16:creationId xmlns:a16="http://schemas.microsoft.com/office/drawing/2014/main" id="{BE166DCE-539D-4C74-9C9D-AC000BA2F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Freeform: Shape 24">
                  <a:extLst>
                    <a:ext uri="{FF2B5EF4-FFF2-40B4-BE49-F238E27FC236}">
                      <a16:creationId xmlns:a16="http://schemas.microsoft.com/office/drawing/2014/main" id="{DCC6BEB5-DA1F-4F9E-BA5D-8F892A0FB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8" name="Group 17">
                <a:extLst>
                  <a:ext uri="{FF2B5EF4-FFF2-40B4-BE49-F238E27FC236}">
                    <a16:creationId xmlns:a16="http://schemas.microsoft.com/office/drawing/2014/main" id="{C0300EB9-093C-4C32-A212-821D7AC082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9" name="Freeform: Shape 18">
                  <a:extLst>
                    <a:ext uri="{FF2B5EF4-FFF2-40B4-BE49-F238E27FC236}">
                      <a16:creationId xmlns:a16="http://schemas.microsoft.com/office/drawing/2014/main" id="{AFC97B3C-CF0E-4C93-AA39-7A677A12C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Freeform: Shape 19">
                  <a:extLst>
                    <a:ext uri="{FF2B5EF4-FFF2-40B4-BE49-F238E27FC236}">
                      <a16:creationId xmlns:a16="http://schemas.microsoft.com/office/drawing/2014/main" id="{0943F14E-6185-4A31-8318-2088A05F5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1" name="Group 20">
                  <a:extLst>
                    <a:ext uri="{FF2B5EF4-FFF2-40B4-BE49-F238E27FC236}">
                      <a16:creationId xmlns:a16="http://schemas.microsoft.com/office/drawing/2014/main" id="{F3B56658-371E-446B-B30D-D4EA2A88A97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2" name="Straight Connector 21">
                    <a:extLst>
                      <a:ext uri="{FF2B5EF4-FFF2-40B4-BE49-F238E27FC236}">
                        <a16:creationId xmlns:a16="http://schemas.microsoft.com/office/drawing/2014/main" id="{068979FB-2943-4091-A490-D9F8695DF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378C39C-3FC0-4521-8336-33A863919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4" name="Group 13">
              <a:extLst>
                <a:ext uri="{FF2B5EF4-FFF2-40B4-BE49-F238E27FC236}">
                  <a16:creationId xmlns:a16="http://schemas.microsoft.com/office/drawing/2014/main" id="{72C6951D-2EAF-4333-B8A8-F473DC3BDF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37136" y="649304"/>
              <a:ext cx="388541" cy="388541"/>
              <a:chOff x="5752675" y="5440856"/>
              <a:chExt cx="388541" cy="388541"/>
            </a:xfrm>
          </p:grpSpPr>
          <p:sp>
            <p:nvSpPr>
              <p:cNvPr id="15" name="Oval 14">
                <a:extLst>
                  <a:ext uri="{FF2B5EF4-FFF2-40B4-BE49-F238E27FC236}">
                    <a16:creationId xmlns:a16="http://schemas.microsoft.com/office/drawing/2014/main" id="{63E77698-5758-433A-9DF3-3BE43B6FB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Oval 15">
                <a:extLst>
                  <a:ext uri="{FF2B5EF4-FFF2-40B4-BE49-F238E27FC236}">
                    <a16:creationId xmlns:a16="http://schemas.microsoft.com/office/drawing/2014/main" id="{FF47FF7F-75A9-438D-8BA7-428BF7697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5" name="Content Placeholder 4">
            <a:extLst>
              <a:ext uri="{FF2B5EF4-FFF2-40B4-BE49-F238E27FC236}">
                <a16:creationId xmlns:a16="http://schemas.microsoft.com/office/drawing/2014/main" id="{5B9CCD2F-6960-1115-4E8A-99C450D747C3}"/>
              </a:ext>
            </a:extLst>
          </p:cNvPr>
          <p:cNvSpPr>
            <a:spLocks noGrp="1"/>
          </p:cNvSpPr>
          <p:nvPr>
            <p:ph sz="quarter" idx="17"/>
          </p:nvPr>
        </p:nvSpPr>
        <p:spPr>
          <a:xfrm>
            <a:off x="6654801" y="1079499"/>
            <a:ext cx="4457200" cy="4689476"/>
          </a:xfrm>
        </p:spPr>
        <p:txBody>
          <a:bodyPr vert="horz" lIns="0" tIns="0" rIns="0" bIns="0" rtlCol="0" anchor="ctr" anchorCtr="0">
            <a:normAutofit/>
          </a:bodyPr>
          <a:lstStyle/>
          <a:p>
            <a:pPr>
              <a:lnSpc>
                <a:spcPct val="125000"/>
              </a:lnSpc>
            </a:pPr>
            <a:r>
              <a:rPr lang="en-US" sz="2000" b="1" dirty="0"/>
              <a:t>~12,000 fact-checked political statements</a:t>
            </a:r>
          </a:p>
          <a:p>
            <a:pPr>
              <a:lnSpc>
                <a:spcPct val="125000"/>
              </a:lnSpc>
            </a:pPr>
            <a:r>
              <a:rPr lang="en-US" sz="2000" b="1" dirty="0"/>
              <a:t>Sourced from PolitiFact</a:t>
            </a:r>
          </a:p>
          <a:p>
            <a:pPr>
              <a:lnSpc>
                <a:spcPct val="125000"/>
              </a:lnSpc>
            </a:pPr>
            <a:r>
              <a:rPr lang="en-US" sz="2000" b="1" dirty="0"/>
              <a:t>Labeled across 6 truthfulness categories</a:t>
            </a:r>
          </a:p>
          <a:p>
            <a:pPr lvl="1">
              <a:lnSpc>
                <a:spcPct val="125000"/>
              </a:lnSpc>
            </a:pPr>
            <a:r>
              <a:rPr lang="en-US" sz="2000" b="1" dirty="0"/>
              <a:t>- Pants-fire, false, barely-true, half-true, mostly-true, true</a:t>
            </a:r>
          </a:p>
          <a:p>
            <a:pPr>
              <a:lnSpc>
                <a:spcPct val="125000"/>
              </a:lnSpc>
            </a:pPr>
            <a:r>
              <a:rPr lang="en-US" sz="2000" b="1" dirty="0"/>
              <a:t>Includes speaker, subject, context </a:t>
            </a:r>
          </a:p>
          <a:p>
            <a:pPr>
              <a:lnSpc>
                <a:spcPct val="125000"/>
              </a:lnSpc>
            </a:pPr>
            <a:r>
              <a:rPr lang="en-US" sz="2000" b="1" dirty="0"/>
              <a:t>Ideal for studying misinformation patterns</a:t>
            </a:r>
          </a:p>
          <a:p>
            <a:pPr>
              <a:lnSpc>
                <a:spcPct val="125000"/>
              </a:lnSpc>
            </a:pPr>
            <a:endParaRPr lang="en-US" sz="2000" dirty="0"/>
          </a:p>
        </p:txBody>
      </p:sp>
    </p:spTree>
    <p:extLst>
      <p:ext uri="{BB962C8B-B14F-4D97-AF65-F5344CB8AC3E}">
        <p14:creationId xmlns:p14="http://schemas.microsoft.com/office/powerpoint/2010/main" val="3429045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64117C-29E2-1AA7-8E40-EC138FC5BC47}"/>
              </a:ext>
            </a:extLst>
          </p:cNvPr>
          <p:cNvSpPr>
            <a:spLocks noGrp="1"/>
          </p:cNvSpPr>
          <p:nvPr>
            <p:ph type="title"/>
          </p:nvPr>
        </p:nvSpPr>
        <p:spPr>
          <a:xfrm>
            <a:off x="541338" y="1079500"/>
            <a:ext cx="3322637" cy="4689475"/>
          </a:xfrm>
        </p:spPr>
        <p:txBody>
          <a:bodyPr vert="horz" lIns="0" tIns="0" rIns="0" bIns="0" rtlCol="0" anchor="ctr" anchorCtr="0">
            <a:normAutofit/>
          </a:bodyPr>
          <a:lstStyle/>
          <a:p>
            <a:r>
              <a:rPr lang="en-US" sz="2400"/>
              <a:t>Preprocessing workflow</a:t>
            </a:r>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3" name="Content Placeholder 2">
            <a:extLst>
              <a:ext uri="{FF2B5EF4-FFF2-40B4-BE49-F238E27FC236}">
                <a16:creationId xmlns:a16="http://schemas.microsoft.com/office/drawing/2014/main" id="{3B48CF8F-7D8D-9B9F-2308-DC4FBA84B02A}"/>
              </a:ext>
            </a:extLst>
          </p:cNvPr>
          <p:cNvGraphicFramePr>
            <a:graphicFrameLocks noGrp="1"/>
          </p:cNvGraphicFramePr>
          <p:nvPr>
            <p:ph sz="quarter" idx="17"/>
            <p:extLst>
              <p:ext uri="{D42A27DB-BD31-4B8C-83A1-F6EECF244321}">
                <p14:modId xmlns:p14="http://schemas.microsoft.com/office/powerpoint/2010/main" val="2173671438"/>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0571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E0AA0-A2EB-344B-8667-310E2D35500D}"/>
              </a:ext>
            </a:extLst>
          </p:cNvPr>
          <p:cNvSpPr>
            <a:spLocks noGrp="1"/>
          </p:cNvSpPr>
          <p:nvPr>
            <p:ph type="title"/>
          </p:nvPr>
        </p:nvSpPr>
        <p:spPr/>
        <p:txBody>
          <a:bodyPr>
            <a:normAutofit fontScale="90000"/>
          </a:bodyPr>
          <a:lstStyle/>
          <a:p>
            <a:r>
              <a:rPr lang="en-US" u="sng" dirty="0"/>
              <a:t>Technique #1: </a:t>
            </a:r>
            <a:br>
              <a:rPr lang="en-US" u="sng" dirty="0"/>
            </a:br>
            <a:r>
              <a:rPr lang="en-US" b="1" i="1" dirty="0"/>
              <a:t>Latent Dirichlet Allocation (LDA)</a:t>
            </a:r>
            <a:br>
              <a:rPr lang="en-US" b="1" dirty="0"/>
            </a:br>
            <a:r>
              <a:rPr lang="en-US" b="1" dirty="0"/>
              <a:t> ~Description~</a:t>
            </a:r>
            <a:endParaRPr lang="en-US" dirty="0"/>
          </a:p>
        </p:txBody>
      </p:sp>
      <p:sp>
        <p:nvSpPr>
          <p:cNvPr id="3" name="Content Placeholder 2">
            <a:extLst>
              <a:ext uri="{FF2B5EF4-FFF2-40B4-BE49-F238E27FC236}">
                <a16:creationId xmlns:a16="http://schemas.microsoft.com/office/drawing/2014/main" id="{F75C6DF7-C143-A7C1-B71A-8CBE53A59AF7}"/>
              </a:ext>
            </a:extLst>
          </p:cNvPr>
          <p:cNvSpPr>
            <a:spLocks noGrp="1"/>
          </p:cNvSpPr>
          <p:nvPr>
            <p:ph sz="quarter" idx="17"/>
          </p:nvPr>
        </p:nvSpPr>
        <p:spPr/>
        <p:txBody>
          <a:bodyPr/>
          <a:lstStyle/>
          <a:p>
            <a:pPr>
              <a:lnSpc>
                <a:spcPct val="125000"/>
              </a:lnSpc>
            </a:pPr>
            <a:r>
              <a:rPr lang="en-US" dirty="0"/>
              <a:t>Unsupervised topic modeling method</a:t>
            </a:r>
          </a:p>
          <a:p>
            <a:pPr>
              <a:lnSpc>
                <a:spcPct val="125000"/>
              </a:lnSpc>
            </a:pPr>
            <a:r>
              <a:rPr lang="en-US" dirty="0"/>
              <a:t>Discovers themes based on word co-occurrence</a:t>
            </a:r>
          </a:p>
          <a:p>
            <a:pPr>
              <a:lnSpc>
                <a:spcPct val="125000"/>
              </a:lnSpc>
            </a:pPr>
            <a:r>
              <a:rPr lang="en-US" dirty="0"/>
              <a:t>Each statement = mixture of topics</a:t>
            </a:r>
          </a:p>
          <a:p>
            <a:pPr>
              <a:lnSpc>
                <a:spcPct val="125000"/>
              </a:lnSpc>
            </a:pPr>
            <a:r>
              <a:rPr lang="en-US" dirty="0"/>
              <a:t>Helps identify broad issue categories</a:t>
            </a:r>
          </a:p>
          <a:p>
            <a:pPr>
              <a:lnSpc>
                <a:spcPct val="125000"/>
              </a:lnSpc>
            </a:pPr>
            <a:r>
              <a:rPr lang="en-US" dirty="0"/>
              <a:t>Addresses: </a:t>
            </a:r>
            <a:r>
              <a:rPr lang="en-US" b="1" i="1" u="sng" dirty="0"/>
              <a:t>Do political statements show consistent topical structure?</a:t>
            </a:r>
          </a:p>
          <a:p>
            <a:endParaRPr lang="en-US" dirty="0"/>
          </a:p>
        </p:txBody>
      </p:sp>
    </p:spTree>
    <p:extLst>
      <p:ext uri="{BB962C8B-B14F-4D97-AF65-F5344CB8AC3E}">
        <p14:creationId xmlns:p14="http://schemas.microsoft.com/office/powerpoint/2010/main" val="3630839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1F16366-02FB-E5D8-C2F7-AD42AB103138}"/>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90CF4E-7114-1BF6-372E-ECFD668CC77E}"/>
              </a:ext>
            </a:extLst>
          </p:cNvPr>
          <p:cNvSpPr>
            <a:spLocks noGrp="1"/>
          </p:cNvSpPr>
          <p:nvPr>
            <p:ph type="title"/>
          </p:nvPr>
        </p:nvSpPr>
        <p:spPr>
          <a:xfrm>
            <a:off x="1080000" y="540033"/>
            <a:ext cx="4426782" cy="1331604"/>
          </a:xfrm>
        </p:spPr>
        <p:txBody>
          <a:bodyPr vert="horz" lIns="0" tIns="0" rIns="0" bIns="0" rtlCol="0" anchor="b" anchorCtr="0">
            <a:normAutofit/>
          </a:bodyPr>
          <a:lstStyle/>
          <a:p>
            <a:r>
              <a:rPr lang="en-US" u="sng" dirty="0"/>
              <a:t>Technique #1: </a:t>
            </a:r>
            <a:br>
              <a:rPr lang="en-US" dirty="0"/>
            </a:br>
            <a:r>
              <a:rPr lang="en-US" dirty="0"/>
              <a:t>~</a:t>
            </a:r>
            <a:r>
              <a:rPr lang="en-US" b="1" dirty="0"/>
              <a:t>Findings~</a:t>
            </a:r>
            <a:endParaRPr lang="en-US" dirty="0"/>
          </a:p>
        </p:txBody>
      </p:sp>
      <p:cxnSp>
        <p:nvCxnSpPr>
          <p:cNvPr id="38" name="Straight Connector 37">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23391"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D330C01-F2F0-4C84-219F-BC25EDDEBC01}"/>
              </a:ext>
            </a:extLst>
          </p:cNvPr>
          <p:cNvSpPr>
            <a:spLocks noGrp="1"/>
          </p:cNvSpPr>
          <p:nvPr>
            <p:ph sz="quarter" idx="17"/>
          </p:nvPr>
        </p:nvSpPr>
        <p:spPr>
          <a:xfrm>
            <a:off x="1080000" y="2759076"/>
            <a:ext cx="4460874" cy="3009899"/>
          </a:xfrm>
        </p:spPr>
        <p:txBody>
          <a:bodyPr vert="horz" lIns="0" tIns="0" rIns="0" bIns="0" rtlCol="0" anchor="t" anchorCtr="0">
            <a:normAutofit/>
          </a:bodyPr>
          <a:lstStyle/>
          <a:p>
            <a:pPr>
              <a:lnSpc>
                <a:spcPct val="125000"/>
              </a:lnSpc>
            </a:pPr>
            <a:r>
              <a:rPr lang="en-US" sz="1900"/>
              <a:t>10 coherent political topics identified</a:t>
            </a:r>
          </a:p>
          <a:p>
            <a:pPr>
              <a:lnSpc>
                <a:spcPct val="125000"/>
              </a:lnSpc>
            </a:pPr>
            <a:r>
              <a:rPr lang="en-US" sz="1900"/>
              <a:t>Themes include: elections, taxation, immigration, healthcare, federal spending</a:t>
            </a:r>
          </a:p>
          <a:p>
            <a:pPr>
              <a:lnSpc>
                <a:spcPct val="125000"/>
              </a:lnSpc>
            </a:pPr>
            <a:r>
              <a:rPr lang="en-US" sz="1900"/>
              <a:t>Topic prevalence relatively balanced</a:t>
            </a:r>
          </a:p>
          <a:p>
            <a:pPr>
              <a:lnSpc>
                <a:spcPct val="125000"/>
              </a:lnSpc>
            </a:pPr>
            <a:r>
              <a:rPr lang="en-US" sz="1900"/>
              <a:t>Confirms strong thematic structure in political statements</a:t>
            </a:r>
          </a:p>
          <a:p>
            <a:pPr>
              <a:lnSpc>
                <a:spcPct val="125000"/>
              </a:lnSpc>
            </a:pPr>
            <a:endParaRPr lang="en-US" sz="1900"/>
          </a:p>
        </p:txBody>
      </p:sp>
      <p:pic>
        <p:nvPicPr>
          <p:cNvPr id="24" name="Picture 23" descr="A screenshot of a computer&#10;&#10;AI-generated content may be incorrect.">
            <a:extLst>
              <a:ext uri="{FF2B5EF4-FFF2-40B4-BE49-F238E27FC236}">
                <a16:creationId xmlns:a16="http://schemas.microsoft.com/office/drawing/2014/main" id="{E6110232-BDEC-4BE8-C264-0261D745AC1A}"/>
              </a:ext>
            </a:extLst>
          </p:cNvPr>
          <p:cNvPicPr>
            <a:picLocks noChangeAspect="1"/>
          </p:cNvPicPr>
          <p:nvPr/>
        </p:nvPicPr>
        <p:blipFill>
          <a:blip r:embed="rId3"/>
          <a:srcRect r="18017" b="2"/>
          <a:stretch>
            <a:fillRect/>
          </a:stretch>
        </p:blipFill>
        <p:spPr>
          <a:xfrm>
            <a:off x="6734599" y="3429000"/>
            <a:ext cx="4996800" cy="289080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BAE6CDC0-428E-8958-114F-9247E8528381}"/>
              </a:ext>
            </a:extLst>
          </p:cNvPr>
          <p:cNvPicPr>
            <a:picLocks noChangeAspect="1"/>
          </p:cNvPicPr>
          <p:nvPr/>
        </p:nvPicPr>
        <p:blipFill>
          <a:blip r:embed="rId4"/>
          <a:srcRect b="11336"/>
          <a:stretch>
            <a:fillRect/>
          </a:stretch>
        </p:blipFill>
        <p:spPr>
          <a:xfrm>
            <a:off x="6734599" y="610371"/>
            <a:ext cx="4996800" cy="2890800"/>
          </a:xfrm>
          <a:prstGeom prst="rect">
            <a:avLst/>
          </a:prstGeom>
        </p:spPr>
      </p:pic>
    </p:spTree>
    <p:extLst>
      <p:ext uri="{BB962C8B-B14F-4D97-AF65-F5344CB8AC3E}">
        <p14:creationId xmlns:p14="http://schemas.microsoft.com/office/powerpoint/2010/main" val="2179824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47E63-50B0-9E25-E4C3-795ADA3AF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D6A85-C16C-3AC3-1C0C-C5915CC0166A}"/>
              </a:ext>
            </a:extLst>
          </p:cNvPr>
          <p:cNvSpPr>
            <a:spLocks noGrp="1"/>
          </p:cNvSpPr>
          <p:nvPr>
            <p:ph type="title"/>
          </p:nvPr>
        </p:nvSpPr>
        <p:spPr/>
        <p:txBody>
          <a:bodyPr>
            <a:normAutofit fontScale="90000"/>
          </a:bodyPr>
          <a:lstStyle/>
          <a:p>
            <a:r>
              <a:rPr lang="en-US" u="sng" dirty="0"/>
              <a:t>Technique #2: </a:t>
            </a:r>
            <a:br>
              <a:rPr lang="en-US" u="sng" dirty="0"/>
            </a:br>
            <a:r>
              <a:rPr lang="en-US" b="1" i="1" dirty="0"/>
              <a:t>structural topic modeling (STM)</a:t>
            </a:r>
            <a:br>
              <a:rPr lang="en-US" b="1" dirty="0"/>
            </a:br>
            <a:r>
              <a:rPr lang="en-US" b="1" dirty="0"/>
              <a:t> ~Description~</a:t>
            </a:r>
            <a:endParaRPr lang="en-US" dirty="0"/>
          </a:p>
        </p:txBody>
      </p:sp>
      <p:sp>
        <p:nvSpPr>
          <p:cNvPr id="3" name="Content Placeholder 2">
            <a:extLst>
              <a:ext uri="{FF2B5EF4-FFF2-40B4-BE49-F238E27FC236}">
                <a16:creationId xmlns:a16="http://schemas.microsoft.com/office/drawing/2014/main" id="{8F8B3C49-8C7F-5AD0-86FD-A8460B7B3D29}"/>
              </a:ext>
            </a:extLst>
          </p:cNvPr>
          <p:cNvSpPr>
            <a:spLocks noGrp="1"/>
          </p:cNvSpPr>
          <p:nvPr>
            <p:ph sz="quarter" idx="17"/>
          </p:nvPr>
        </p:nvSpPr>
        <p:spPr/>
        <p:txBody>
          <a:bodyPr/>
          <a:lstStyle/>
          <a:p>
            <a:pPr>
              <a:lnSpc>
                <a:spcPct val="125000"/>
              </a:lnSpc>
            </a:pPr>
            <a:r>
              <a:rPr lang="en-US" dirty="0"/>
              <a:t>Extensions of LDA that includes document metadata</a:t>
            </a:r>
          </a:p>
          <a:p>
            <a:pPr>
              <a:lnSpc>
                <a:spcPct val="125000"/>
              </a:lnSpc>
            </a:pPr>
            <a:r>
              <a:rPr lang="en-US" dirty="0"/>
              <a:t>Incorporates truthfulness labels as a covariate</a:t>
            </a:r>
          </a:p>
          <a:p>
            <a:pPr>
              <a:lnSpc>
                <a:spcPct val="125000"/>
              </a:lnSpc>
            </a:pPr>
            <a:r>
              <a:rPr lang="en-US" dirty="0"/>
              <a:t>Estimates how topic prevalence changes across truth categories</a:t>
            </a:r>
          </a:p>
          <a:p>
            <a:pPr>
              <a:lnSpc>
                <a:spcPct val="125000"/>
              </a:lnSpc>
            </a:pPr>
            <a:r>
              <a:rPr lang="en-US" dirty="0"/>
              <a:t>Helps identify topics more strongly linked to misinformation</a:t>
            </a:r>
          </a:p>
          <a:p>
            <a:pPr>
              <a:lnSpc>
                <a:spcPct val="125000"/>
              </a:lnSpc>
            </a:pPr>
            <a:r>
              <a:rPr lang="en-US" dirty="0"/>
              <a:t>Addresses: </a:t>
            </a:r>
            <a:r>
              <a:rPr lang="en-US" b="1" i="1" u="sng" dirty="0"/>
              <a:t>Are certain topics associated with false or “pants-fire” claims?</a:t>
            </a:r>
            <a:endParaRPr lang="en-US" b="1" u="sng" dirty="0"/>
          </a:p>
        </p:txBody>
      </p:sp>
    </p:spTree>
    <p:extLst>
      <p:ext uri="{BB962C8B-B14F-4D97-AF65-F5344CB8AC3E}">
        <p14:creationId xmlns:p14="http://schemas.microsoft.com/office/powerpoint/2010/main" val="1048168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1156BCB-EF74-2133-F4A1-E3F0BC4D6AA9}"/>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C1C647-0363-8AE7-1538-089AD2728A50}"/>
              </a:ext>
            </a:extLst>
          </p:cNvPr>
          <p:cNvSpPr>
            <a:spLocks noGrp="1"/>
          </p:cNvSpPr>
          <p:nvPr>
            <p:ph type="title"/>
          </p:nvPr>
        </p:nvSpPr>
        <p:spPr>
          <a:xfrm>
            <a:off x="1080000" y="540033"/>
            <a:ext cx="4426782" cy="1331604"/>
          </a:xfrm>
        </p:spPr>
        <p:txBody>
          <a:bodyPr vert="horz" lIns="0" tIns="0" rIns="0" bIns="0" rtlCol="0" anchor="b" anchorCtr="0">
            <a:normAutofit/>
          </a:bodyPr>
          <a:lstStyle/>
          <a:p>
            <a:r>
              <a:rPr lang="en-US" u="sng" dirty="0"/>
              <a:t>Technique #2: </a:t>
            </a:r>
            <a:br>
              <a:rPr lang="en-US" dirty="0"/>
            </a:br>
            <a:r>
              <a:rPr lang="en-US" dirty="0"/>
              <a:t>~</a:t>
            </a:r>
            <a:r>
              <a:rPr lang="en-US" b="1" dirty="0"/>
              <a:t>Findings~</a:t>
            </a:r>
            <a:endParaRPr lang="en-US" dirty="0"/>
          </a:p>
        </p:txBody>
      </p:sp>
      <p:cxnSp>
        <p:nvCxnSpPr>
          <p:cNvPr id="30" name="Straight Connector 29">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23391"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442DE56-7EF1-9769-5EEE-AD6B5B48659E}"/>
              </a:ext>
            </a:extLst>
          </p:cNvPr>
          <p:cNvSpPr>
            <a:spLocks noGrp="1"/>
          </p:cNvSpPr>
          <p:nvPr>
            <p:ph sz="quarter" idx="17"/>
          </p:nvPr>
        </p:nvSpPr>
        <p:spPr>
          <a:xfrm>
            <a:off x="1080000" y="2759076"/>
            <a:ext cx="4460874" cy="3009899"/>
          </a:xfrm>
        </p:spPr>
        <p:txBody>
          <a:bodyPr vert="horz" lIns="0" tIns="0" rIns="0" bIns="0" rtlCol="0" anchor="t" anchorCtr="0">
            <a:normAutofit fontScale="92500" lnSpcReduction="20000"/>
          </a:bodyPr>
          <a:lstStyle/>
          <a:p>
            <a:pPr>
              <a:lnSpc>
                <a:spcPct val="125000"/>
              </a:lnSpc>
            </a:pPr>
            <a:r>
              <a:rPr lang="en-US" sz="2000"/>
              <a:t>Topic prevalence varies across truth categories</a:t>
            </a:r>
          </a:p>
          <a:p>
            <a:pPr>
              <a:lnSpc>
                <a:spcPct val="125000"/>
              </a:lnSpc>
            </a:pPr>
            <a:r>
              <a:rPr lang="en-US" sz="2000"/>
              <a:t>Some topics appear more often in misinformation (pants-fire/false)</a:t>
            </a:r>
          </a:p>
          <a:p>
            <a:pPr>
              <a:lnSpc>
                <a:spcPct val="125000"/>
              </a:lnSpc>
            </a:pPr>
            <a:r>
              <a:rPr lang="en-US" sz="2000"/>
              <a:t>Others appear more often in accurate statements</a:t>
            </a:r>
          </a:p>
          <a:p>
            <a:pPr>
              <a:lnSpc>
                <a:spcPct val="125000"/>
              </a:lnSpc>
            </a:pPr>
            <a:r>
              <a:rPr lang="en-US" sz="2000"/>
              <a:t>Shows misinformation clusters around specific issue areas</a:t>
            </a:r>
            <a:endParaRPr lang="en-US" sz="1900" dirty="0"/>
          </a:p>
        </p:txBody>
      </p:sp>
      <p:pic>
        <p:nvPicPr>
          <p:cNvPr id="5" name="Picture 4" descr="A screenshot of a computer screen&#10;&#10;AI-generated content may be incorrect.">
            <a:extLst>
              <a:ext uri="{FF2B5EF4-FFF2-40B4-BE49-F238E27FC236}">
                <a16:creationId xmlns:a16="http://schemas.microsoft.com/office/drawing/2014/main" id="{2171FC29-F3E4-5A1B-B42C-70074723414B}"/>
              </a:ext>
            </a:extLst>
          </p:cNvPr>
          <p:cNvPicPr>
            <a:picLocks noChangeAspect="1"/>
          </p:cNvPicPr>
          <p:nvPr/>
        </p:nvPicPr>
        <p:blipFill>
          <a:blip r:embed="rId3"/>
          <a:srcRect t="301" r="2" b="2"/>
          <a:stretch>
            <a:fillRect/>
          </a:stretch>
        </p:blipFill>
        <p:spPr>
          <a:xfrm>
            <a:off x="6651128" y="1"/>
            <a:ext cx="4261382" cy="4925866"/>
          </a:xfrm>
          <a:prstGeom prst="rect">
            <a:avLst/>
          </a:prstGeom>
        </p:spPr>
      </p:pic>
      <p:pic>
        <p:nvPicPr>
          <p:cNvPr id="7" name="Picture 6" descr="A screenshot of a computer screen&#10;&#10;AI-generated content may be incorrect.">
            <a:extLst>
              <a:ext uri="{FF2B5EF4-FFF2-40B4-BE49-F238E27FC236}">
                <a16:creationId xmlns:a16="http://schemas.microsoft.com/office/drawing/2014/main" id="{1A53966C-5BA3-F291-1F43-50DDD7F097D9}"/>
              </a:ext>
            </a:extLst>
          </p:cNvPr>
          <p:cNvPicPr>
            <a:picLocks noChangeAspect="1"/>
          </p:cNvPicPr>
          <p:nvPr/>
        </p:nvPicPr>
        <p:blipFill>
          <a:blip r:embed="rId4"/>
          <a:stretch>
            <a:fillRect/>
          </a:stretch>
        </p:blipFill>
        <p:spPr>
          <a:xfrm>
            <a:off x="6096000" y="4925867"/>
            <a:ext cx="5301447" cy="1769659"/>
          </a:xfrm>
          <a:prstGeom prst="rect">
            <a:avLst/>
          </a:prstGeom>
        </p:spPr>
      </p:pic>
    </p:spTree>
    <p:extLst>
      <p:ext uri="{BB962C8B-B14F-4D97-AF65-F5344CB8AC3E}">
        <p14:creationId xmlns:p14="http://schemas.microsoft.com/office/powerpoint/2010/main" val="1446421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975E6-5823-7C71-CB62-0FEA6331F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77CDA-DE63-2E43-0397-F8E6D972D3A8}"/>
              </a:ext>
            </a:extLst>
          </p:cNvPr>
          <p:cNvSpPr>
            <a:spLocks noGrp="1"/>
          </p:cNvSpPr>
          <p:nvPr>
            <p:ph type="title"/>
          </p:nvPr>
        </p:nvSpPr>
        <p:spPr/>
        <p:txBody>
          <a:bodyPr>
            <a:normAutofit fontScale="90000"/>
          </a:bodyPr>
          <a:lstStyle/>
          <a:p>
            <a:r>
              <a:rPr lang="en-US" u="sng" dirty="0"/>
              <a:t>Technique #3: </a:t>
            </a:r>
            <a:br>
              <a:rPr lang="en-US" u="sng" dirty="0"/>
            </a:br>
            <a:r>
              <a:rPr lang="en-US" b="1" i="1" dirty="0"/>
              <a:t>Naïve-Bayes Classification</a:t>
            </a:r>
            <a:br>
              <a:rPr lang="en-US" b="1" dirty="0"/>
            </a:br>
            <a:r>
              <a:rPr lang="en-US" b="1" dirty="0"/>
              <a:t> ~Description~</a:t>
            </a:r>
            <a:endParaRPr lang="en-US" dirty="0"/>
          </a:p>
        </p:txBody>
      </p:sp>
      <p:sp>
        <p:nvSpPr>
          <p:cNvPr id="3" name="Content Placeholder 2">
            <a:extLst>
              <a:ext uri="{FF2B5EF4-FFF2-40B4-BE49-F238E27FC236}">
                <a16:creationId xmlns:a16="http://schemas.microsoft.com/office/drawing/2014/main" id="{45D14672-A82A-1F97-DCF5-BDDB58C7B322}"/>
              </a:ext>
            </a:extLst>
          </p:cNvPr>
          <p:cNvSpPr>
            <a:spLocks noGrp="1"/>
          </p:cNvSpPr>
          <p:nvPr>
            <p:ph sz="quarter" idx="17"/>
          </p:nvPr>
        </p:nvSpPr>
        <p:spPr/>
        <p:txBody>
          <a:bodyPr/>
          <a:lstStyle/>
          <a:p>
            <a:pPr>
              <a:lnSpc>
                <a:spcPct val="125000"/>
              </a:lnSpc>
            </a:pPr>
            <a:r>
              <a:rPr lang="en-US" dirty="0"/>
              <a:t>Supervised learning method</a:t>
            </a:r>
          </a:p>
          <a:p>
            <a:pPr>
              <a:lnSpc>
                <a:spcPct val="125000"/>
              </a:lnSpc>
            </a:pPr>
            <a:r>
              <a:rPr lang="en-US" dirty="0"/>
              <a:t>Predicts misinformation vs. non-misinformation</a:t>
            </a:r>
          </a:p>
          <a:p>
            <a:pPr>
              <a:lnSpc>
                <a:spcPct val="125000"/>
              </a:lnSpc>
            </a:pPr>
            <a:r>
              <a:rPr lang="en-US" dirty="0"/>
              <a:t>Uses bag-of-words features from the DFM</a:t>
            </a:r>
          </a:p>
          <a:p>
            <a:pPr>
              <a:lnSpc>
                <a:spcPct val="125000"/>
              </a:lnSpc>
            </a:pPr>
            <a:r>
              <a:rPr lang="en-US" dirty="0"/>
              <a:t>Tests whether linguistic patterns distinguish truth levels</a:t>
            </a:r>
          </a:p>
          <a:p>
            <a:pPr>
              <a:lnSpc>
                <a:spcPct val="125000"/>
              </a:lnSpc>
            </a:pPr>
            <a:r>
              <a:rPr lang="en-US" dirty="0"/>
              <a:t>Addresses: </a:t>
            </a:r>
            <a:r>
              <a:rPr lang="en-US" b="1" i="1" u="sng" dirty="0"/>
              <a:t>Can language alone predict misinformation?</a:t>
            </a:r>
            <a:endParaRPr lang="en-US" b="1" u="sng" dirty="0"/>
          </a:p>
        </p:txBody>
      </p:sp>
    </p:spTree>
    <p:extLst>
      <p:ext uri="{BB962C8B-B14F-4D97-AF65-F5344CB8AC3E}">
        <p14:creationId xmlns:p14="http://schemas.microsoft.com/office/powerpoint/2010/main" val="1069850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2D1F354-4A6B-512A-3E95-229C094534C1}"/>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8149D6F-3451-40D4-80E4-BD3298EFA9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233997-0330-4AFA-A963-33F140BF870B}"/>
              </a:ext>
            </a:extLst>
          </p:cNvPr>
          <p:cNvSpPr>
            <a:spLocks noGrp="1"/>
          </p:cNvSpPr>
          <p:nvPr>
            <p:ph type="title"/>
          </p:nvPr>
        </p:nvSpPr>
        <p:spPr>
          <a:xfrm>
            <a:off x="1080000" y="540033"/>
            <a:ext cx="4426782" cy="1331604"/>
          </a:xfrm>
        </p:spPr>
        <p:txBody>
          <a:bodyPr vert="horz" lIns="0" tIns="0" rIns="0" bIns="0" rtlCol="0" anchor="b" anchorCtr="0">
            <a:normAutofit/>
          </a:bodyPr>
          <a:lstStyle/>
          <a:p>
            <a:r>
              <a:rPr lang="en-US" u="sng" dirty="0"/>
              <a:t>Technique #3: </a:t>
            </a:r>
            <a:br>
              <a:rPr lang="en-US" dirty="0"/>
            </a:br>
            <a:r>
              <a:rPr lang="en-US" dirty="0"/>
              <a:t>~</a:t>
            </a:r>
            <a:r>
              <a:rPr lang="en-US" b="1" dirty="0"/>
              <a:t>Findings~</a:t>
            </a:r>
            <a:endParaRPr lang="en-US" dirty="0"/>
          </a:p>
        </p:txBody>
      </p:sp>
      <p:cxnSp>
        <p:nvCxnSpPr>
          <p:cNvPr id="30" name="Straight Connector 29">
            <a:extLst>
              <a:ext uri="{FF2B5EF4-FFF2-40B4-BE49-F238E27FC236}">
                <a16:creationId xmlns:a16="http://schemas.microsoft.com/office/drawing/2014/main" id="{1D6CD831-77C0-5714-933B-14109BA47B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23391"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1E1AE1C-426C-46BB-74AB-BA8259700A88}"/>
              </a:ext>
            </a:extLst>
          </p:cNvPr>
          <p:cNvSpPr>
            <a:spLocks noGrp="1"/>
          </p:cNvSpPr>
          <p:nvPr>
            <p:ph sz="quarter" idx="17"/>
          </p:nvPr>
        </p:nvSpPr>
        <p:spPr>
          <a:xfrm>
            <a:off x="262653" y="2766494"/>
            <a:ext cx="6129494" cy="3548817"/>
          </a:xfrm>
        </p:spPr>
        <p:txBody>
          <a:bodyPr vert="horz" lIns="0" tIns="0" rIns="0" bIns="0" rtlCol="0" anchor="t" anchorCtr="0">
            <a:normAutofit/>
          </a:bodyPr>
          <a:lstStyle/>
          <a:p>
            <a:pPr>
              <a:lnSpc>
                <a:spcPct val="125000"/>
              </a:lnSpc>
            </a:pPr>
            <a:r>
              <a:rPr lang="en-US" sz="2000" dirty="0"/>
              <a:t>Model: Naive Bayes</a:t>
            </a:r>
          </a:p>
          <a:p>
            <a:pPr>
              <a:lnSpc>
                <a:spcPct val="125000"/>
              </a:lnSpc>
            </a:pPr>
            <a:r>
              <a:rPr lang="en-US" sz="2000" dirty="0"/>
              <a:t>Task: </a:t>
            </a:r>
            <a:r>
              <a:rPr lang="en-US" sz="2000" dirty="0" err="1"/>
              <a:t>misinfo</a:t>
            </a:r>
            <a:r>
              <a:rPr lang="en-US" sz="2000" dirty="0"/>
              <a:t> vs. </a:t>
            </a:r>
            <a:r>
              <a:rPr lang="en-US" sz="2000" dirty="0" err="1"/>
              <a:t>not_misinfo</a:t>
            </a:r>
            <a:endParaRPr lang="en-US" sz="2000" dirty="0"/>
          </a:p>
          <a:p>
            <a:pPr>
              <a:lnSpc>
                <a:spcPct val="125000"/>
              </a:lnSpc>
            </a:pPr>
            <a:r>
              <a:rPr lang="en-US" sz="2000" dirty="0"/>
              <a:t>Accuracy: </a:t>
            </a:r>
            <a:r>
              <a:rPr lang="en-US" sz="2000" b="1" dirty="0"/>
              <a:t>57.3%</a:t>
            </a:r>
          </a:p>
          <a:p>
            <a:pPr>
              <a:lnSpc>
                <a:spcPct val="125000"/>
              </a:lnSpc>
            </a:pPr>
            <a:r>
              <a:rPr lang="en-US" sz="2000" dirty="0"/>
              <a:t>Above-chance performance</a:t>
            </a:r>
          </a:p>
          <a:p>
            <a:pPr>
              <a:lnSpc>
                <a:spcPct val="125000"/>
              </a:lnSpc>
            </a:pPr>
            <a:r>
              <a:rPr lang="en-US" sz="2000" dirty="0"/>
              <a:t>Shows linguistic cues contain some predictive signal</a:t>
            </a:r>
            <a:endParaRPr lang="en-US" sz="1900" dirty="0"/>
          </a:p>
        </p:txBody>
      </p:sp>
      <p:sp>
        <p:nvSpPr>
          <p:cNvPr id="4" name="Rectangle 1">
            <a:extLst>
              <a:ext uri="{FF2B5EF4-FFF2-40B4-BE49-F238E27FC236}">
                <a16:creationId xmlns:a16="http://schemas.microsoft.com/office/drawing/2014/main" id="{B6ECFD46-01F3-28E4-6633-F264C3ED181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Task: misinfo vs. not_misinfo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AFF2DCDD-5DB0-13D2-8552-C6C68C11EC25}"/>
              </a:ext>
            </a:extLst>
          </p:cNvPr>
          <p:cNvPicPr>
            <a:picLocks noChangeAspect="1"/>
          </p:cNvPicPr>
          <p:nvPr/>
        </p:nvPicPr>
        <p:blipFill>
          <a:blip r:embed="rId3"/>
          <a:stretch>
            <a:fillRect/>
          </a:stretch>
        </p:blipFill>
        <p:spPr>
          <a:xfrm>
            <a:off x="6096000" y="4167965"/>
            <a:ext cx="1552792" cy="371527"/>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87830A6C-2C4E-9B32-D298-ACB0610A0DFC}"/>
              </a:ext>
            </a:extLst>
          </p:cNvPr>
          <p:cNvPicPr>
            <a:picLocks noChangeAspect="1"/>
          </p:cNvPicPr>
          <p:nvPr/>
        </p:nvPicPr>
        <p:blipFill>
          <a:blip r:embed="rId4"/>
          <a:stretch>
            <a:fillRect/>
          </a:stretch>
        </p:blipFill>
        <p:spPr>
          <a:xfrm>
            <a:off x="6088800" y="2223805"/>
            <a:ext cx="5840547" cy="1944160"/>
          </a:xfrm>
          <a:prstGeom prst="rect">
            <a:avLst/>
          </a:prstGeom>
        </p:spPr>
      </p:pic>
    </p:spTree>
    <p:extLst>
      <p:ext uri="{BB962C8B-B14F-4D97-AF65-F5344CB8AC3E}">
        <p14:creationId xmlns:p14="http://schemas.microsoft.com/office/powerpoint/2010/main" val="2138605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4021C-19B4-A19B-7286-581DD4C2B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B2F6F-7025-9C7D-2D11-8A63EF439676}"/>
              </a:ext>
            </a:extLst>
          </p:cNvPr>
          <p:cNvSpPr>
            <a:spLocks noGrp="1"/>
          </p:cNvSpPr>
          <p:nvPr>
            <p:ph type="title"/>
          </p:nvPr>
        </p:nvSpPr>
        <p:spPr/>
        <p:txBody>
          <a:bodyPr>
            <a:normAutofit fontScale="90000"/>
          </a:bodyPr>
          <a:lstStyle/>
          <a:p>
            <a:r>
              <a:rPr lang="en-US" u="sng" dirty="0"/>
              <a:t>Technique #4: </a:t>
            </a:r>
            <a:br>
              <a:rPr lang="en-US" u="sng" dirty="0"/>
            </a:br>
            <a:r>
              <a:rPr lang="en-US" b="1" i="1" dirty="0"/>
              <a:t>Word embeddings</a:t>
            </a:r>
            <a:br>
              <a:rPr lang="en-US" b="1" dirty="0"/>
            </a:br>
            <a:r>
              <a:rPr lang="en-US" b="1" dirty="0"/>
              <a:t> ~Description~</a:t>
            </a:r>
            <a:endParaRPr lang="en-US" dirty="0"/>
          </a:p>
        </p:txBody>
      </p:sp>
      <p:sp>
        <p:nvSpPr>
          <p:cNvPr id="3" name="Content Placeholder 2">
            <a:extLst>
              <a:ext uri="{FF2B5EF4-FFF2-40B4-BE49-F238E27FC236}">
                <a16:creationId xmlns:a16="http://schemas.microsoft.com/office/drawing/2014/main" id="{B3E111E7-D4A3-770B-FB9E-1F78B72A8CF3}"/>
              </a:ext>
            </a:extLst>
          </p:cNvPr>
          <p:cNvSpPr>
            <a:spLocks noGrp="1"/>
          </p:cNvSpPr>
          <p:nvPr>
            <p:ph sz="quarter" idx="17"/>
          </p:nvPr>
        </p:nvSpPr>
        <p:spPr/>
        <p:txBody>
          <a:bodyPr/>
          <a:lstStyle/>
          <a:p>
            <a:pPr>
              <a:lnSpc>
                <a:spcPct val="125000"/>
              </a:lnSpc>
            </a:pPr>
            <a:r>
              <a:rPr lang="en-US" dirty="0"/>
              <a:t>Represents words as vectors in a semantic space</a:t>
            </a:r>
          </a:p>
          <a:p>
            <a:pPr>
              <a:lnSpc>
                <a:spcPct val="125000"/>
              </a:lnSpc>
            </a:pPr>
            <a:r>
              <a:rPr lang="en-US" dirty="0"/>
              <a:t>Learned from word co-occurrence patterns</a:t>
            </a:r>
          </a:p>
          <a:p>
            <a:pPr>
              <a:lnSpc>
                <a:spcPct val="125000"/>
              </a:lnSpc>
            </a:pPr>
            <a:r>
              <a:rPr lang="en-US" dirty="0"/>
              <a:t>Similar words → nearby in vector space</a:t>
            </a:r>
          </a:p>
          <a:p>
            <a:pPr>
              <a:lnSpc>
                <a:spcPct val="125000"/>
              </a:lnSpc>
            </a:pPr>
            <a:r>
              <a:rPr lang="en-US" dirty="0"/>
              <a:t>Uses </a:t>
            </a:r>
            <a:r>
              <a:rPr lang="en-US" dirty="0" err="1"/>
              <a:t>GloVe</a:t>
            </a:r>
            <a:r>
              <a:rPr lang="en-US" dirty="0"/>
              <a:t>-style model + PCA for visualization</a:t>
            </a:r>
          </a:p>
          <a:p>
            <a:pPr>
              <a:lnSpc>
                <a:spcPct val="125000"/>
              </a:lnSpc>
            </a:pPr>
            <a:r>
              <a:rPr lang="en-US" dirty="0"/>
              <a:t>Addresses: </a:t>
            </a:r>
            <a:r>
              <a:rPr lang="en-US" b="1" i="1" u="sng" dirty="0"/>
              <a:t>What does the semantic structure of political language look like?</a:t>
            </a:r>
            <a:endParaRPr lang="en-US" b="1" u="sng" dirty="0"/>
          </a:p>
        </p:txBody>
      </p:sp>
    </p:spTree>
    <p:extLst>
      <p:ext uri="{BB962C8B-B14F-4D97-AF65-F5344CB8AC3E}">
        <p14:creationId xmlns:p14="http://schemas.microsoft.com/office/powerpoint/2010/main" val="681800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996108E-CA4C-0D17-AA80-AC2F4ACF32A4}"/>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1F8A12-556A-0328-8A0B-786AB48625B6}"/>
              </a:ext>
            </a:extLst>
          </p:cNvPr>
          <p:cNvSpPr>
            <a:spLocks noGrp="1"/>
          </p:cNvSpPr>
          <p:nvPr>
            <p:ph type="title"/>
          </p:nvPr>
        </p:nvSpPr>
        <p:spPr>
          <a:xfrm>
            <a:off x="1080000" y="540033"/>
            <a:ext cx="4426782" cy="1331604"/>
          </a:xfrm>
        </p:spPr>
        <p:txBody>
          <a:bodyPr vert="horz" lIns="0" tIns="0" rIns="0" bIns="0" rtlCol="0" anchor="b" anchorCtr="0">
            <a:normAutofit/>
          </a:bodyPr>
          <a:lstStyle/>
          <a:p>
            <a:r>
              <a:rPr lang="en-US" u="sng" dirty="0"/>
              <a:t>Technique #4: </a:t>
            </a:r>
            <a:br>
              <a:rPr lang="en-US" dirty="0"/>
            </a:br>
            <a:r>
              <a:rPr lang="en-US" dirty="0"/>
              <a:t>~</a:t>
            </a:r>
            <a:r>
              <a:rPr lang="en-US" b="1" dirty="0"/>
              <a:t>Findings~</a:t>
            </a:r>
            <a:endParaRPr lang="en-US" dirty="0"/>
          </a:p>
        </p:txBody>
      </p:sp>
      <p:cxnSp>
        <p:nvCxnSpPr>
          <p:cNvPr id="37" name="Straight Connector 36">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23391"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C3345F7-DC5F-BD55-AFFF-4D70ADA11B34}"/>
              </a:ext>
            </a:extLst>
          </p:cNvPr>
          <p:cNvSpPr>
            <a:spLocks noGrp="1"/>
          </p:cNvSpPr>
          <p:nvPr>
            <p:ph sz="quarter" idx="17"/>
          </p:nvPr>
        </p:nvSpPr>
        <p:spPr>
          <a:xfrm>
            <a:off x="1080000" y="2759076"/>
            <a:ext cx="4460874" cy="3009899"/>
          </a:xfrm>
        </p:spPr>
        <p:txBody>
          <a:bodyPr vert="horz" lIns="0" tIns="0" rIns="0" bIns="0" rtlCol="0" anchor="t" anchorCtr="0">
            <a:normAutofit/>
          </a:bodyPr>
          <a:lstStyle/>
          <a:p>
            <a:pPr>
              <a:lnSpc>
                <a:spcPct val="115000"/>
              </a:lnSpc>
            </a:pPr>
            <a:r>
              <a:rPr lang="en-US" sz="1700"/>
              <a:t>Words cluster into meaningful semantic groups</a:t>
            </a:r>
          </a:p>
          <a:p>
            <a:pPr>
              <a:lnSpc>
                <a:spcPct val="115000"/>
              </a:lnSpc>
            </a:pPr>
            <a:r>
              <a:rPr lang="en-US" sz="1700"/>
              <a:t>Clear groupings around major political issues</a:t>
            </a:r>
          </a:p>
          <a:p>
            <a:pPr>
              <a:lnSpc>
                <a:spcPct val="115000"/>
              </a:lnSpc>
            </a:pPr>
            <a:r>
              <a:rPr lang="en-US" sz="1700"/>
              <a:t>Shows structure of political language beyond simple word counts</a:t>
            </a:r>
          </a:p>
          <a:p>
            <a:pPr>
              <a:lnSpc>
                <a:spcPct val="115000"/>
              </a:lnSpc>
            </a:pPr>
            <a:r>
              <a:rPr lang="en-US" sz="1700"/>
              <a:t>Complements topic models by revealing term-level relationships</a:t>
            </a:r>
          </a:p>
        </p:txBody>
      </p:sp>
      <p:pic>
        <p:nvPicPr>
          <p:cNvPr id="6" name="Picture 5" descr="A screenshot of a computer screen&#10;&#10;AI-generated content may be incorrect.">
            <a:extLst>
              <a:ext uri="{FF2B5EF4-FFF2-40B4-BE49-F238E27FC236}">
                <a16:creationId xmlns:a16="http://schemas.microsoft.com/office/drawing/2014/main" id="{E3F94D48-152A-645A-D569-EE5726D00FF3}"/>
              </a:ext>
            </a:extLst>
          </p:cNvPr>
          <p:cNvPicPr>
            <a:picLocks noChangeAspect="1"/>
          </p:cNvPicPr>
          <p:nvPr/>
        </p:nvPicPr>
        <p:blipFill>
          <a:blip r:embed="rId3"/>
          <a:stretch>
            <a:fillRect/>
          </a:stretch>
        </p:blipFill>
        <p:spPr>
          <a:xfrm>
            <a:off x="6654800" y="636492"/>
            <a:ext cx="4996212" cy="5582360"/>
          </a:xfrm>
          <a:prstGeom prst="rect">
            <a:avLst/>
          </a:prstGeom>
        </p:spPr>
      </p:pic>
      <p:sp>
        <p:nvSpPr>
          <p:cNvPr id="4" name="Rectangle 1">
            <a:extLst>
              <a:ext uri="{FF2B5EF4-FFF2-40B4-BE49-F238E27FC236}">
                <a16:creationId xmlns:a16="http://schemas.microsoft.com/office/drawing/2014/main" id="{8AD7F83A-7FEA-AA84-72EC-7B94272149B4}"/>
              </a:ext>
            </a:extLst>
          </p:cNvPr>
          <p:cNvSpPr>
            <a:spLocks noChangeArrowheads="1"/>
          </p:cNvSpPr>
          <p:nvPr/>
        </p:nvSpPr>
        <p:spPr bwMode="auto">
          <a:xfrm>
            <a:off x="0" y="-361637"/>
            <a:ext cx="3201582"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solidFill>
                  <a:schemeClr val="tx1"/>
                </a:solidFill>
                <a:effectLst/>
                <a:latin typeface="Arial" panose="020B0604020202020204" pitchFamily="34" charset="0"/>
              </a:rPr>
              <a:t>Task: misinfo vs. not_misinfo</a:t>
            </a:r>
          </a:p>
          <a:p>
            <a:pPr marL="0" marR="0" lvl="0" indent="0" algn="l" defTabSz="914400" rtl="0" eaLnBrk="0" fontAlgn="base" latinLnBrk="0" hangingPunct="0">
              <a:spcBef>
                <a:spcPct val="0"/>
              </a:spcBef>
              <a:spcAft>
                <a:spcPts val="600"/>
              </a:spcAft>
              <a:buClrTx/>
              <a:buSzTx/>
              <a:buFontTx/>
              <a:buChar char="•"/>
              <a:tabLst/>
            </a:pPr>
            <a:endParaRPr kumimoji="0" lang="en-US" altLang="en-U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9115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425B411-97D4-4FF4-32CF-26EDCD03FA24}"/>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9E5DC8-1901-97FB-81FA-5F7E567A0DA3}"/>
              </a:ext>
            </a:extLst>
          </p:cNvPr>
          <p:cNvSpPr>
            <a:spLocks noGrp="1"/>
          </p:cNvSpPr>
          <p:nvPr>
            <p:ph type="ctrTitle"/>
          </p:nvPr>
        </p:nvSpPr>
        <p:spPr>
          <a:xfrm>
            <a:off x="1080000" y="862151"/>
            <a:ext cx="6120000" cy="1009486"/>
          </a:xfrm>
        </p:spPr>
        <p:txBody>
          <a:bodyPr vert="horz" lIns="0" tIns="0" rIns="0" bIns="0" rtlCol="0" anchor="b" anchorCtr="0">
            <a:normAutofit/>
          </a:bodyPr>
          <a:lstStyle/>
          <a:p>
            <a:r>
              <a:rPr lang="en-US" dirty="0"/>
              <a:t>Final summary / Takeaways</a:t>
            </a:r>
          </a:p>
        </p:txBody>
      </p:sp>
      <p:cxnSp>
        <p:nvCxnSpPr>
          <p:cNvPr id="47" name="Straight Connector 46">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7000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BAA8AF0F-5FA6-DFB4-507E-5652AE1D0EF2}"/>
              </a:ext>
            </a:extLst>
          </p:cNvPr>
          <p:cNvSpPr>
            <a:spLocks noGrp="1"/>
          </p:cNvSpPr>
          <p:nvPr>
            <p:ph type="subTitle" idx="1"/>
          </p:nvPr>
        </p:nvSpPr>
        <p:spPr>
          <a:xfrm>
            <a:off x="1080000" y="2759076"/>
            <a:ext cx="6121400" cy="3009899"/>
          </a:xfrm>
        </p:spPr>
        <p:txBody>
          <a:bodyPr vert="horz" lIns="0" tIns="0" rIns="0" bIns="0" rtlCol="0" anchor="t" anchorCtr="0">
            <a:normAutofit/>
          </a:bodyPr>
          <a:lstStyle/>
          <a:p>
            <a:pPr marL="342900" indent="-342900" algn="l">
              <a:lnSpc>
                <a:spcPct val="115000"/>
              </a:lnSpc>
              <a:buFont typeface="Arial" panose="020B0604020202020204" pitchFamily="34" charset="0"/>
              <a:buChar char="•"/>
            </a:pPr>
            <a:r>
              <a:rPr lang="en-US" sz="2000"/>
              <a:t>Political statements show clear topical structure</a:t>
            </a:r>
          </a:p>
          <a:p>
            <a:pPr marL="342900" indent="-342900" algn="l">
              <a:lnSpc>
                <a:spcPct val="115000"/>
              </a:lnSpc>
              <a:buFont typeface="Arial" panose="020B0604020202020204" pitchFamily="34" charset="0"/>
              <a:buChar char="•"/>
            </a:pPr>
            <a:r>
              <a:rPr lang="en-US" sz="2000"/>
              <a:t>Misinformation concentrates in specific topics</a:t>
            </a:r>
          </a:p>
          <a:p>
            <a:pPr marL="342900" indent="-342900" algn="l">
              <a:lnSpc>
                <a:spcPct val="115000"/>
              </a:lnSpc>
              <a:buFont typeface="Arial" panose="020B0604020202020204" pitchFamily="34" charset="0"/>
              <a:buChar char="•"/>
            </a:pPr>
            <a:r>
              <a:rPr lang="en-US" sz="2000"/>
              <a:t>Linguistic cues offer modest predictive power</a:t>
            </a:r>
          </a:p>
          <a:p>
            <a:pPr marL="342900" indent="-342900" algn="l">
              <a:lnSpc>
                <a:spcPct val="115000"/>
              </a:lnSpc>
              <a:buFont typeface="Arial" panose="020B0604020202020204" pitchFamily="34" charset="0"/>
              <a:buChar char="•"/>
            </a:pPr>
            <a:r>
              <a:rPr lang="en-US" sz="2000"/>
              <a:t>Semantic clusters reveal deeper structure of political language</a:t>
            </a:r>
          </a:p>
          <a:p>
            <a:pPr marL="342900" indent="-342900" algn="l">
              <a:lnSpc>
                <a:spcPct val="115000"/>
              </a:lnSpc>
              <a:buFont typeface="Arial" panose="020B0604020202020204" pitchFamily="34" charset="0"/>
              <a:buChar char="•"/>
            </a:pPr>
            <a:r>
              <a:rPr lang="en-US" sz="2000"/>
              <a:t>Project highlights the value of combining multiple techniques</a:t>
            </a:r>
          </a:p>
        </p:txBody>
      </p:sp>
      <p:pic>
        <p:nvPicPr>
          <p:cNvPr id="5" name="Picture 4" descr="A large group of people holding papers&#10;&#10;AI-generated content may be incorrect.">
            <a:extLst>
              <a:ext uri="{FF2B5EF4-FFF2-40B4-BE49-F238E27FC236}">
                <a16:creationId xmlns:a16="http://schemas.microsoft.com/office/drawing/2014/main" id="{A5EDDB4A-9436-2A5A-C5E0-400499DEBA9F}"/>
              </a:ext>
            </a:extLst>
          </p:cNvPr>
          <p:cNvPicPr>
            <a:picLocks noChangeAspect="1"/>
          </p:cNvPicPr>
          <p:nvPr/>
        </p:nvPicPr>
        <p:blipFill>
          <a:blip r:embed="rId3"/>
          <a:srcRect l="18339" r="25640" b="3"/>
          <a:stretch>
            <a:fillRect/>
          </a:stretch>
        </p:blipFill>
        <p:spPr>
          <a:xfrm>
            <a:off x="7782003" y="10"/>
            <a:ext cx="4409998" cy="6857990"/>
          </a:xfrm>
          <a:prstGeom prst="rect">
            <a:avLst/>
          </a:prstGeom>
        </p:spPr>
      </p:pic>
    </p:spTree>
    <p:extLst>
      <p:ext uri="{BB962C8B-B14F-4D97-AF65-F5344CB8AC3E}">
        <p14:creationId xmlns:p14="http://schemas.microsoft.com/office/powerpoint/2010/main" val="2598167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34" name="Straight Connector 33">
            <a:extLst>
              <a:ext uri="{FF2B5EF4-FFF2-40B4-BE49-F238E27FC236}">
                <a16:creationId xmlns:a16="http://schemas.microsoft.com/office/drawing/2014/main" id="{701C0CAB-6A03-4C6A-9FAA-219847753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F982E0B2-AA9C-441C-A08E-A9DF9CF12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28046" y="4869342"/>
            <a:ext cx="1623711" cy="630920"/>
            <a:chOff x="9588346" y="4824892"/>
            <a:chExt cx="1623711" cy="630920"/>
          </a:xfrm>
        </p:grpSpPr>
        <p:sp>
          <p:nvSpPr>
            <p:cNvPr id="37" name="Freeform: Shape 36">
              <a:extLst>
                <a:ext uri="{FF2B5EF4-FFF2-40B4-BE49-F238E27FC236}">
                  <a16:creationId xmlns:a16="http://schemas.microsoft.com/office/drawing/2014/main" id="{A4A2E074-C10D-4C57-AB72-B631E4D7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0B037EB3-1772-4BA8-A95A-E5DBDFEA32B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flipH="1">
              <a:off x="10112436" y="4359902"/>
              <a:ext cx="571820" cy="1620000"/>
              <a:chOff x="8482785" y="4330454"/>
              <a:chExt cx="571820" cy="1620000"/>
            </a:xfrm>
          </p:grpSpPr>
          <p:sp>
            <p:nvSpPr>
              <p:cNvPr id="38" name="Freeform: Shape 37">
                <a:extLst>
                  <a:ext uri="{FF2B5EF4-FFF2-40B4-BE49-F238E27FC236}">
                    <a16:creationId xmlns:a16="http://schemas.microsoft.com/office/drawing/2014/main" id="{A1F47AC1-63D0-47F3-9728-1A0A05434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Connector 15">
                <a:extLst>
                  <a:ext uri="{FF2B5EF4-FFF2-40B4-BE49-F238E27FC236}">
                    <a16:creationId xmlns:a16="http://schemas.microsoft.com/office/drawing/2014/main" id="{803A57D6-0C36-4560-A08A-16768551EF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useBgFill="1">
        <p:nvSpPr>
          <p:cNvPr id="39" name="Rectangle 3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9152CD-4C4C-9E44-BE9B-72AB9835E6A9}"/>
              </a:ext>
            </a:extLst>
          </p:cNvPr>
          <p:cNvSpPr>
            <a:spLocks noGrp="1"/>
          </p:cNvSpPr>
          <p:nvPr>
            <p:ph type="ctrTitle"/>
          </p:nvPr>
        </p:nvSpPr>
        <p:spPr>
          <a:xfrm>
            <a:off x="1124588" y="732505"/>
            <a:ext cx="4451349" cy="1532951"/>
          </a:xfrm>
        </p:spPr>
        <p:txBody>
          <a:bodyPr vert="horz" lIns="0" tIns="0" rIns="0" bIns="0" rtlCol="0" anchor="b" anchorCtr="0">
            <a:normAutofit/>
          </a:bodyPr>
          <a:lstStyle/>
          <a:p>
            <a:r>
              <a:rPr lang="en-US" dirty="0"/>
              <a:t>References</a:t>
            </a:r>
          </a:p>
        </p:txBody>
      </p:sp>
      <p:sp>
        <p:nvSpPr>
          <p:cNvPr id="3" name="Subtitle 2">
            <a:extLst>
              <a:ext uri="{FF2B5EF4-FFF2-40B4-BE49-F238E27FC236}">
                <a16:creationId xmlns:a16="http://schemas.microsoft.com/office/drawing/2014/main" id="{F3F2E30C-1333-5529-886B-FD732D3DCBD3}"/>
              </a:ext>
            </a:extLst>
          </p:cNvPr>
          <p:cNvSpPr>
            <a:spLocks noGrp="1"/>
          </p:cNvSpPr>
          <p:nvPr>
            <p:ph type="subTitle" idx="1"/>
          </p:nvPr>
        </p:nvSpPr>
        <p:spPr>
          <a:xfrm>
            <a:off x="396003" y="4303544"/>
            <a:ext cx="5824694" cy="1941784"/>
          </a:xfrm>
        </p:spPr>
        <p:txBody>
          <a:bodyPr vert="horz" lIns="0" tIns="0" rIns="0" bIns="0" rtlCol="0" anchor="t" anchorCtr="0">
            <a:normAutofit fontScale="62500" lnSpcReduction="20000"/>
          </a:bodyPr>
          <a:lstStyle/>
          <a:p>
            <a:pPr marL="342900" indent="-342900" algn="l">
              <a:buFont typeface="Arial" panose="020B0604020202020204" pitchFamily="34" charset="0"/>
              <a:buChar char="•"/>
            </a:pPr>
            <a:r>
              <a:rPr lang="en-US" sz="2400" dirty="0"/>
              <a:t>Stoltz, D. S., &amp; Taylor, M. A. (2024). Mapping Texts: Computational Text Analysis for the Social Sciences. Cultural Cartography Press. </a:t>
            </a:r>
            <a:r>
              <a:rPr lang="en-US" sz="2400" dirty="0">
                <a:hlinkClick r:id="rId3"/>
              </a:rPr>
              <a:t>https://culturalcartography.gitlab.io/</a:t>
            </a:r>
            <a:endParaRPr lang="en-US" sz="2400" dirty="0"/>
          </a:p>
          <a:p>
            <a:pPr marL="342900" indent="-342900" algn="l">
              <a:buFont typeface="Arial" panose="020B0604020202020204" pitchFamily="34" charset="0"/>
              <a:buChar char="•"/>
            </a:pPr>
            <a:r>
              <a:rPr lang="en-US" sz="2400" dirty="0"/>
              <a:t>Wang, L., et al. (2017). </a:t>
            </a:r>
            <a:r>
              <a:rPr lang="en-US" sz="2400" b="1" dirty="0"/>
              <a:t>LIAR Dataset</a:t>
            </a:r>
            <a:r>
              <a:rPr lang="en-US" sz="2400" dirty="0"/>
              <a:t>: A Benchmark Dataset for Fake News Detection. Retrieved from PolitiFact and hosted at https://www.cs.ucsb.edu/~lijun/data/LIAR-dataset.zip</a:t>
            </a:r>
          </a:p>
        </p:txBody>
      </p:sp>
      <p:grpSp>
        <p:nvGrpSpPr>
          <p:cNvPr id="40" name="Group 39">
            <a:extLst>
              <a:ext uri="{FF2B5EF4-FFF2-40B4-BE49-F238E27FC236}">
                <a16:creationId xmlns:a16="http://schemas.microsoft.com/office/drawing/2014/main" id="{49E013D9-9421-47E7-9080-30F6E544BE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00275" y="2840038"/>
            <a:ext cx="2216150" cy="1177924"/>
            <a:chOff x="4987925" y="2840038"/>
            <a:chExt cx="2216150" cy="1177924"/>
          </a:xfrm>
        </p:grpSpPr>
        <p:sp>
          <p:nvSpPr>
            <p:cNvPr id="21" name="Rectangle 20">
              <a:extLst>
                <a:ext uri="{FF2B5EF4-FFF2-40B4-BE49-F238E27FC236}">
                  <a16:creationId xmlns:a16="http://schemas.microsoft.com/office/drawing/2014/main" id="{9109F7CF-3139-48B9-AF7B-9BD2941A8D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15A838F8-C7B5-4988-81A9-B02E6C8F9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85B86A1A-402F-4AE2-B5E6-B8A5FB16CD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23">
              <a:extLst>
                <a:ext uri="{FF2B5EF4-FFF2-40B4-BE49-F238E27FC236}">
                  <a16:creationId xmlns:a16="http://schemas.microsoft.com/office/drawing/2014/main" id="{44A0542D-9B1C-46B1-82B5-54470B697F1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614944" y="3117662"/>
              <a:ext cx="1009280" cy="464739"/>
              <a:chOff x="4432859" y="3200647"/>
              <a:chExt cx="1009280" cy="464739"/>
            </a:xfrm>
          </p:grpSpPr>
          <p:sp>
            <p:nvSpPr>
              <p:cNvPr id="32" name="Freeform: Shape 31">
                <a:extLst>
                  <a:ext uri="{FF2B5EF4-FFF2-40B4-BE49-F238E27FC236}">
                    <a16:creationId xmlns:a16="http://schemas.microsoft.com/office/drawing/2014/main" id="{F3AFD408-F48C-4C50-8D5E-5DD627179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Freeform: Shape 32">
                <a:extLst>
                  <a:ext uri="{FF2B5EF4-FFF2-40B4-BE49-F238E27FC236}">
                    <a16:creationId xmlns:a16="http://schemas.microsoft.com/office/drawing/2014/main" id="{9C45F007-BD45-43C0-8579-5601F9CA7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5" name="Group 24">
              <a:extLst>
                <a:ext uri="{FF2B5EF4-FFF2-40B4-BE49-F238E27FC236}">
                  <a16:creationId xmlns:a16="http://schemas.microsoft.com/office/drawing/2014/main" id="{97131E1B-CE62-4AB1-A2D9-02E823C9B32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679979" y="2915338"/>
              <a:ext cx="1080000" cy="1080000"/>
              <a:chOff x="4497894" y="2998323"/>
              <a:chExt cx="1080000" cy="1080000"/>
            </a:xfrm>
          </p:grpSpPr>
          <p:grpSp>
            <p:nvGrpSpPr>
              <p:cNvPr id="26" name="Group 25">
                <a:extLst>
                  <a:ext uri="{FF2B5EF4-FFF2-40B4-BE49-F238E27FC236}">
                    <a16:creationId xmlns:a16="http://schemas.microsoft.com/office/drawing/2014/main" id="{745E8D88-C0BB-4D1C-B240-D441BBA6F7A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5524" y="2998323"/>
                <a:ext cx="464739" cy="1080000"/>
                <a:chOff x="4511184" y="2470620"/>
                <a:chExt cx="464739" cy="1080000"/>
              </a:xfrm>
            </p:grpSpPr>
            <p:sp>
              <p:nvSpPr>
                <p:cNvPr id="30" name="Freeform: Shape 29">
                  <a:extLst>
                    <a:ext uri="{FF2B5EF4-FFF2-40B4-BE49-F238E27FC236}">
                      <a16:creationId xmlns:a16="http://schemas.microsoft.com/office/drawing/2014/main" id="{AAB960BE-12F5-4ADA-AA9E-0EC542564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31" name="Straight Connector 30">
                  <a:extLst>
                    <a:ext uri="{FF2B5EF4-FFF2-40B4-BE49-F238E27FC236}">
                      <a16:creationId xmlns:a16="http://schemas.microsoft.com/office/drawing/2014/main" id="{7E9BB9F7-7101-4BF3-9191-5893E4C582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D0710A9C-48A5-404F-9EC4-D486FCDFDAB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H="1">
                <a:off x="4542572" y="2998323"/>
                <a:ext cx="464739" cy="1080000"/>
                <a:chOff x="4511184" y="2470620"/>
                <a:chExt cx="464739" cy="1080000"/>
              </a:xfrm>
            </p:grpSpPr>
            <p:sp>
              <p:nvSpPr>
                <p:cNvPr id="28" name="Freeform: Shape 27">
                  <a:extLst>
                    <a:ext uri="{FF2B5EF4-FFF2-40B4-BE49-F238E27FC236}">
                      <a16:creationId xmlns:a16="http://schemas.microsoft.com/office/drawing/2014/main" id="{5111EC00-4B3D-478C-AD25-F35644013E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9" name="Straight Connector 28">
                  <a:extLst>
                    <a:ext uri="{FF2B5EF4-FFF2-40B4-BE49-F238E27FC236}">
                      <a16:creationId xmlns:a16="http://schemas.microsoft.com/office/drawing/2014/main" id="{350412DA-ED08-4AFA-AED3-DFB42655D4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35" name="Rectangle 34">
            <a:extLst>
              <a:ext uri="{FF2B5EF4-FFF2-40B4-BE49-F238E27FC236}">
                <a16:creationId xmlns:a16="http://schemas.microsoft.com/office/drawing/2014/main" id="{8036B80B-269D-4F02-9EF9-A6A4E917B3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4794" y="0"/>
            <a:ext cx="5537206"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41" name="Graphic 40" descr="Books">
            <a:extLst>
              <a:ext uri="{FF2B5EF4-FFF2-40B4-BE49-F238E27FC236}">
                <a16:creationId xmlns:a16="http://schemas.microsoft.com/office/drawing/2014/main" id="{77616DDB-21E7-A70B-0482-197F46A7DD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90467" y="1652564"/>
            <a:ext cx="3552872" cy="3552872"/>
          </a:xfrm>
          <a:prstGeom prst="rect">
            <a:avLst/>
          </a:prstGeom>
        </p:spPr>
      </p:pic>
    </p:spTree>
    <p:extLst>
      <p:ext uri="{BB962C8B-B14F-4D97-AF65-F5344CB8AC3E}">
        <p14:creationId xmlns:p14="http://schemas.microsoft.com/office/powerpoint/2010/main" val="3684793955"/>
      </p:ext>
    </p:extLst>
  </p:cSld>
  <p:clrMapOvr>
    <a:masterClrMapping/>
  </p:clrMapOvr>
</p:sld>
</file>

<file path=ppt/theme/theme1.xml><?xml version="1.0" encoding="utf-8"?>
<a:theme xmlns:a="http://schemas.openxmlformats.org/drawingml/2006/main" name="LeafVTI">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F021420E-D6CD-4398-9C5C-03FBF68874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70C3F92-C0AD-4E73-8A22-9D413A456BAF}">
  <ds:schemaRefs>
    <ds:schemaRef ds:uri="http://schemas.microsoft.com/sharepoint/v3/contenttype/forms"/>
  </ds:schemaRefs>
</ds:datastoreItem>
</file>

<file path=customXml/itemProps3.xml><?xml version="1.0" encoding="utf-8"?>
<ds:datastoreItem xmlns:ds="http://schemas.openxmlformats.org/officeDocument/2006/customXml" ds:itemID="{975126FD-8B44-46F3-BEB2-D5456E76919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114</TotalTime>
  <Words>2663</Words>
  <Application>Microsoft Office PowerPoint</Application>
  <PresentationFormat>Widescreen</PresentationFormat>
  <Paragraphs>141</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Avenir Next LT Pro Light</vt:lpstr>
      <vt:lpstr>Calibri</vt:lpstr>
      <vt:lpstr>Rockwell Nova Light</vt:lpstr>
      <vt:lpstr>Wingdings</vt:lpstr>
      <vt:lpstr>LeafVTI</vt:lpstr>
      <vt:lpstr>Linguistic and Topical Patterns in Political Misinformation  A Text Analysis of the LIAR Dataset</vt:lpstr>
      <vt:lpstr>Empirical Questions</vt:lpstr>
      <vt:lpstr>Dataset: LIAR</vt:lpstr>
      <vt:lpstr>Preprocessing workflow</vt:lpstr>
      <vt:lpstr>Technique #1:  Latent Dirichlet Allocation (LDA)  ~Description~</vt:lpstr>
      <vt:lpstr>Technique #1:  ~Findings~</vt:lpstr>
      <vt:lpstr>Technique #2:  structural topic modeling (STM)  ~Description~</vt:lpstr>
      <vt:lpstr>Technique #2:  ~Findings~</vt:lpstr>
      <vt:lpstr>Technique #3:  Naïve-Bayes Classification  ~Description~</vt:lpstr>
      <vt:lpstr>Technique #3:  ~Findings~</vt:lpstr>
      <vt:lpstr>Technique #4:  Word embeddings  ~Description~</vt:lpstr>
      <vt:lpstr>Technique #4:  ~Findings~</vt:lpstr>
      <vt:lpstr>Final summary / Takeaways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Cruz Lawrence-Mayes</dc:creator>
  <cp:lastModifiedBy>Cruz Lawrence-Mayes</cp:lastModifiedBy>
  <cp:revision>1</cp:revision>
  <dcterms:created xsi:type="dcterms:W3CDTF">2025-12-07T20:47:46Z</dcterms:created>
  <dcterms:modified xsi:type="dcterms:W3CDTF">2025-12-07T22:42:38Z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